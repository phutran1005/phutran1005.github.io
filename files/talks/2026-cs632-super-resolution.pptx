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6" r:id="rId1"/>
  </p:sldMasterIdLst>
  <p:notesMasterIdLst>
    <p:notesMasterId r:id="rId64"/>
  </p:notesMasterIdLst>
  <p:sldIdLst>
    <p:sldId id="256" r:id="rId2"/>
    <p:sldId id="326" r:id="rId3"/>
    <p:sldId id="257" r:id="rId4"/>
    <p:sldId id="258" r:id="rId5"/>
    <p:sldId id="259" r:id="rId6"/>
    <p:sldId id="260" r:id="rId7"/>
    <p:sldId id="261" r:id="rId8"/>
    <p:sldId id="262" r:id="rId9"/>
    <p:sldId id="313" r:id="rId10"/>
    <p:sldId id="263" r:id="rId11"/>
    <p:sldId id="264" r:id="rId12"/>
    <p:sldId id="265" r:id="rId13"/>
    <p:sldId id="266" r:id="rId14"/>
    <p:sldId id="267" r:id="rId15"/>
    <p:sldId id="268" r:id="rId16"/>
    <p:sldId id="314" r:id="rId17"/>
    <p:sldId id="269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316" r:id="rId35"/>
    <p:sldId id="317" r:id="rId36"/>
    <p:sldId id="320" r:id="rId37"/>
    <p:sldId id="290" r:id="rId38"/>
    <p:sldId id="318" r:id="rId39"/>
    <p:sldId id="319" r:id="rId40"/>
    <p:sldId id="321" r:id="rId41"/>
    <p:sldId id="322" r:id="rId42"/>
    <p:sldId id="323" r:id="rId43"/>
    <p:sldId id="324" r:id="rId44"/>
    <p:sldId id="327" r:id="rId45"/>
    <p:sldId id="328" r:id="rId46"/>
    <p:sldId id="329" r:id="rId47"/>
    <p:sldId id="315" r:id="rId48"/>
    <p:sldId id="291" r:id="rId49"/>
    <p:sldId id="311" r:id="rId50"/>
    <p:sldId id="297" r:id="rId51"/>
    <p:sldId id="296" r:id="rId52"/>
    <p:sldId id="298" r:id="rId53"/>
    <p:sldId id="299" r:id="rId54"/>
    <p:sldId id="302" r:id="rId55"/>
    <p:sldId id="303" r:id="rId56"/>
    <p:sldId id="310" r:id="rId57"/>
    <p:sldId id="306" r:id="rId58"/>
    <p:sldId id="307" r:id="rId59"/>
    <p:sldId id="308" r:id="rId60"/>
    <p:sldId id="309" r:id="rId61"/>
    <p:sldId id="325" r:id="rId62"/>
    <p:sldId id="293" r:id="rId6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65"/>
      <p:bold r:id="rId66"/>
      <p:italic r:id="rId67"/>
      <p:boldItalic r:id="rId68"/>
    </p:embeddedFont>
    <p:embeddedFont>
      <p:font typeface="맑은 고딕" panose="020B0503020000020004" pitchFamily="50" charset="-127"/>
      <p:regular r:id="rId69"/>
      <p:bold r:id="rId70"/>
    </p:embeddedFont>
    <p:embeddedFont>
      <p:font typeface="맑은 고딕" panose="020B0503020000020004" pitchFamily="50" charset="-127"/>
      <p:regular r:id="rId69"/>
      <p:bold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273645-94B3-4296-885D-40CAB012CB2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8"/>
    <p:restoredTop sz="82253" autoAdjust="0"/>
  </p:normalViewPr>
  <p:slideViewPr>
    <p:cSldViewPr snapToGrid="0">
      <p:cViewPr varScale="1">
        <p:scale>
          <a:sx n="135" d="100"/>
          <a:sy n="135" d="100"/>
        </p:scale>
        <p:origin x="2544" y="84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60" name="Google Shape;60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cb9f6f10_2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99" name="Google Shape;99;g291cb9f6f10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00" name="Google Shape;100;g291cb9f6f10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7494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cb9f6f10_2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99" name="Google Shape;99;g291cb9f6f10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00" name="Google Shape;100;g291cb9f6f10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7ac73f6d3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92" name="Google Shape;92;g227ac73f6d3_0_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cb9f6f10_2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99" name="Google Shape;99;g291cb9f6f10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00" name="Google Shape;100;g291cb9f6f10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cb9f6f10_2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99" name="Google Shape;99;g291cb9f6f10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00" name="Google Shape;100;g291cb9f6f10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cb9f6f10_2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99" name="Google Shape;99;g291cb9f6f10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00" name="Google Shape;100;g291cb9f6f10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cb9f6f10_2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99" name="Google Shape;99;g291cb9f6f10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00" name="Google Shape;100;g291cb9f6f10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cb9f6f10_2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99" name="Google Shape;99;g291cb9f6f10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/>
          </a:p>
        </p:txBody>
      </p:sp>
      <p:sp>
        <p:nvSpPr>
          <p:cNvPr id="100" name="Google Shape;100;g291cb9f6f10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  <a:defRPr/>
              </a:p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1269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00f9067ec7_4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22" name="Google Shape;1022;g300f9067ec7_4_1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00f9067ec7_4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22" name="Google Shape;1022;g300f9067ec7_4_1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7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940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064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581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00f9067ec7_4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22" name="Google Shape;1022;g300f9067ec7_4_1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657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244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719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559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7821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261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273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45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086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00f9067ec7_4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22" name="Google Shape;1022;g300f9067ec7_4_1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27613456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437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162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853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744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1672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2468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1770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00f9067ec7_4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22" name="Google Shape;1022;g300f9067ec7_4_1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35276957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3595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647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043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226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00f9067ec7_4_1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29" name="Google Shape;1029;g300f9067ec7_4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30" name="Google Shape;1030;g300f9067ec7_4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457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endParaRPr lang="en-US" altLang="ko-KR"/>
          </a:p>
        </p:txBody>
      </p:sp>
      <p:sp>
        <p:nvSpPr>
          <p:cNvPr id="1051" name="Google Shape;1051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>
            <a:spLocks noGrp="1"/>
          </p:cNvSpPr>
          <p:nvPr>
            <p:ph type="ctrTitle"/>
          </p:nvPr>
        </p:nvSpPr>
        <p:spPr>
          <a:xfrm>
            <a:off x="685800" y="1554480"/>
            <a:ext cx="7772400" cy="19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2800"/>
              <a:buFont typeface="Calibri"/>
              <a:buNone/>
              <a:defRPr sz="2800" b="1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" name="Google Shape;17;p7" descr="https://cs.kaist.ac.kr/upload_files/timeline/54f3dee9995a8.png"/>
          <p:cNvPicPr preferRelativeResize="0"/>
          <p:nvPr/>
        </p:nvPicPr>
        <p:blipFill rotWithShape="1">
          <a:blip r:embed="rId2">
            <a:alphaModFix/>
          </a:blip>
          <a:srcRect l="2953" t="31409" r="2385" b="31701"/>
          <a:stretch/>
        </p:blipFill>
        <p:spPr>
          <a:xfrm>
            <a:off x="6910501" y="152573"/>
            <a:ext cx="1936333" cy="42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>
            <a:spLocks noGrp="1"/>
          </p:cNvSpPr>
          <p:nvPr>
            <p:ph type="title"/>
          </p:nvPr>
        </p:nvSpPr>
        <p:spPr>
          <a:xfrm>
            <a:off x="623888" y="1709740"/>
            <a:ext cx="78867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3200"/>
              <a:buFont typeface="Calibri"/>
              <a:buNone/>
              <a:defRPr sz="3200" b="1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623888" y="3393343"/>
            <a:ext cx="7886700" cy="198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68DBD"/>
              </a:buClr>
              <a:buSzPts val="1800"/>
              <a:buFont typeface="Noto Sans Symbols"/>
              <a:buChar char="▪"/>
              <a:defRPr sz="1800" b="0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9" descr="https://cs.kaist.ac.kr/upload_files/timeline/54f3dee9995a8.png"/>
          <p:cNvPicPr preferRelativeResize="0"/>
          <p:nvPr/>
        </p:nvPicPr>
        <p:blipFill rotWithShape="1">
          <a:blip r:embed="rId2">
            <a:alphaModFix/>
          </a:blip>
          <a:srcRect l="2953" t="31409" r="2385" b="31701"/>
          <a:stretch/>
        </p:blipFill>
        <p:spPr>
          <a:xfrm>
            <a:off x="266400" y="6327631"/>
            <a:ext cx="1936333" cy="4225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9"/>
          <p:cNvSpPr/>
          <p:nvPr/>
        </p:nvSpPr>
        <p:spPr>
          <a:xfrm>
            <a:off x="0" y="2996952"/>
            <a:ext cx="9144000" cy="72008"/>
          </a:xfrm>
          <a:prstGeom prst="rect">
            <a:avLst/>
          </a:prstGeom>
          <a:gradFill>
            <a:gsLst>
              <a:gs pos="0">
                <a:srgbClr val="5FBEEB"/>
              </a:gs>
              <a:gs pos="87000">
                <a:srgbClr val="FFFF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266400" y="1180123"/>
            <a:ext cx="8611200" cy="49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✔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⮚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0"/>
          <p:cNvSpPr/>
          <p:nvPr/>
        </p:nvSpPr>
        <p:spPr>
          <a:xfrm>
            <a:off x="0" y="692696"/>
            <a:ext cx="9144000" cy="72008"/>
          </a:xfrm>
          <a:prstGeom prst="rect">
            <a:avLst/>
          </a:prstGeom>
          <a:gradFill>
            <a:gsLst>
              <a:gs pos="0">
                <a:srgbClr val="5FBEEB"/>
              </a:gs>
              <a:gs pos="87000">
                <a:srgbClr val="FFFF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10" descr="https://cs.kaist.ac.kr/upload_files/timeline/54f3dee9995a8.png"/>
          <p:cNvPicPr preferRelativeResize="0"/>
          <p:nvPr/>
        </p:nvPicPr>
        <p:blipFill rotWithShape="1">
          <a:blip r:embed="rId2">
            <a:alphaModFix/>
          </a:blip>
          <a:srcRect l="2953" t="31409" r="2385" b="31701"/>
          <a:stretch/>
        </p:blipFill>
        <p:spPr>
          <a:xfrm>
            <a:off x="266400" y="6327631"/>
            <a:ext cx="1936333" cy="42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is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672123" y="1180123"/>
            <a:ext cx="7799754" cy="49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30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✔"/>
              <a:defRPr/>
            </a:lvl3pPr>
            <a:lvl4pPr marL="1828800" lvl="3" indent="-330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–"/>
              <a:defRPr/>
            </a:lvl4pPr>
            <a:lvl5pPr marL="2286000" lvl="4" indent="-330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⮚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0" y="692696"/>
            <a:ext cx="9144000" cy="72008"/>
          </a:xfrm>
          <a:prstGeom prst="rect">
            <a:avLst/>
          </a:prstGeom>
          <a:gradFill>
            <a:gsLst>
              <a:gs pos="0">
                <a:srgbClr val="5FBEEB"/>
              </a:gs>
              <a:gs pos="87000">
                <a:srgbClr val="FFFF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8" descr="https://cs.kaist.ac.kr/upload_files/timeline/54f3dee9995a8.png"/>
          <p:cNvPicPr preferRelativeResize="0"/>
          <p:nvPr/>
        </p:nvPicPr>
        <p:blipFill rotWithShape="1">
          <a:blip r:embed="rId2">
            <a:alphaModFix/>
          </a:blip>
          <a:srcRect l="2953" t="31409" r="2385" b="31701"/>
          <a:stretch/>
        </p:blipFill>
        <p:spPr>
          <a:xfrm>
            <a:off x="266400" y="6327631"/>
            <a:ext cx="1936333" cy="42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Navigation">
  <p:cSld name="Title and Content with Naviga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266400" y="1180123"/>
            <a:ext cx="8611200" cy="49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✔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⮚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11"/>
          <p:cNvSpPr/>
          <p:nvPr/>
        </p:nvSpPr>
        <p:spPr>
          <a:xfrm>
            <a:off x="0" y="692696"/>
            <a:ext cx="9144000" cy="72008"/>
          </a:xfrm>
          <a:prstGeom prst="rect">
            <a:avLst/>
          </a:prstGeom>
          <a:gradFill>
            <a:gsLst>
              <a:gs pos="0">
                <a:srgbClr val="5FBEEB"/>
              </a:gs>
              <a:gs pos="87000">
                <a:srgbClr val="FFFF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45;p11"/>
          <p:cNvGrpSpPr/>
          <p:nvPr/>
        </p:nvGrpSpPr>
        <p:grpSpPr>
          <a:xfrm>
            <a:off x="225591" y="836712"/>
            <a:ext cx="8692819" cy="231601"/>
            <a:chOff x="209550" y="692696"/>
            <a:chExt cx="8692819" cy="288032"/>
          </a:xfrm>
        </p:grpSpPr>
        <p:sp>
          <p:nvSpPr>
            <p:cNvPr id="46" name="Google Shape;46;p11"/>
            <p:cNvSpPr/>
            <p:nvPr/>
          </p:nvSpPr>
          <p:spPr>
            <a:xfrm>
              <a:off x="209550" y="692696"/>
              <a:ext cx="1562472" cy="288032"/>
            </a:xfrm>
            <a:prstGeom prst="roundRect">
              <a:avLst>
                <a:gd name="adj" fmla="val 16667"/>
              </a:avLst>
            </a:prstGeom>
            <a:solidFill>
              <a:srgbClr val="5FBEE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11"/>
            <p:cNvSpPr/>
            <p:nvPr/>
          </p:nvSpPr>
          <p:spPr>
            <a:xfrm>
              <a:off x="1992137" y="692696"/>
              <a:ext cx="1562472" cy="288032"/>
            </a:xfrm>
            <a:prstGeom prst="roundRect">
              <a:avLst>
                <a:gd name="adj" fmla="val 16667"/>
              </a:avLst>
            </a:prstGeom>
            <a:solidFill>
              <a:srgbClr val="DFF2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5FBEEB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000" b="0" i="0" u="none" strike="noStrike" cap="none">
                <a:solidFill>
                  <a:srgbClr val="5FBE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11"/>
            <p:cNvSpPr/>
            <p:nvPr/>
          </p:nvSpPr>
          <p:spPr>
            <a:xfrm>
              <a:off x="3774724" y="692696"/>
              <a:ext cx="1562472" cy="288032"/>
            </a:xfrm>
            <a:prstGeom prst="roundRect">
              <a:avLst>
                <a:gd name="adj" fmla="val 16667"/>
              </a:avLst>
            </a:prstGeom>
            <a:solidFill>
              <a:srgbClr val="DFF2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5FBEEB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000" b="0" i="0" u="none" strike="noStrike" cap="none">
                <a:solidFill>
                  <a:srgbClr val="5FBE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1"/>
            <p:cNvSpPr/>
            <p:nvPr/>
          </p:nvSpPr>
          <p:spPr>
            <a:xfrm>
              <a:off x="5557311" y="692696"/>
              <a:ext cx="1562472" cy="288032"/>
            </a:xfrm>
            <a:prstGeom prst="roundRect">
              <a:avLst>
                <a:gd name="adj" fmla="val 16667"/>
              </a:avLst>
            </a:prstGeom>
            <a:solidFill>
              <a:srgbClr val="DFF2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5FBEEB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000" b="0" i="0" u="none" strike="noStrike" cap="none">
                <a:solidFill>
                  <a:srgbClr val="5FBE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1"/>
            <p:cNvSpPr/>
            <p:nvPr/>
          </p:nvSpPr>
          <p:spPr>
            <a:xfrm>
              <a:off x="7339897" y="692696"/>
              <a:ext cx="1562472" cy="288032"/>
            </a:xfrm>
            <a:prstGeom prst="roundRect">
              <a:avLst>
                <a:gd name="adj" fmla="val 16667"/>
              </a:avLst>
            </a:prstGeom>
            <a:solidFill>
              <a:srgbClr val="DFF2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rgbClr val="5FBEEB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1000" b="0" i="0" u="none" strike="noStrike" cap="none">
                <a:solidFill>
                  <a:srgbClr val="5FBE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" name="Google Shape;51;p11" descr="https://cs.kaist.ac.kr/upload_files/timeline/54f3dee9995a8.png"/>
          <p:cNvPicPr preferRelativeResize="0"/>
          <p:nvPr/>
        </p:nvPicPr>
        <p:blipFill rotWithShape="1">
          <a:blip r:embed="rId2">
            <a:alphaModFix/>
          </a:blip>
          <a:srcRect l="2953" t="31409" r="2385" b="31701"/>
          <a:stretch/>
        </p:blipFill>
        <p:spPr>
          <a:xfrm>
            <a:off x="266400" y="6327631"/>
            <a:ext cx="1936333" cy="42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2"/>
          <p:cNvSpPr/>
          <p:nvPr/>
        </p:nvSpPr>
        <p:spPr>
          <a:xfrm>
            <a:off x="0" y="692696"/>
            <a:ext cx="9144000" cy="72008"/>
          </a:xfrm>
          <a:prstGeom prst="rect">
            <a:avLst/>
          </a:prstGeom>
          <a:gradFill>
            <a:gsLst>
              <a:gs pos="0">
                <a:srgbClr val="5FBEEB"/>
              </a:gs>
              <a:gs pos="87000">
                <a:srgbClr val="FFFFFF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2" descr="https://cs.kaist.ac.kr/upload_files/timeline/54f3dee9995a8.png"/>
          <p:cNvPicPr preferRelativeResize="0"/>
          <p:nvPr/>
        </p:nvPicPr>
        <p:blipFill rotWithShape="1">
          <a:blip r:embed="rId2">
            <a:alphaModFix/>
          </a:blip>
          <a:srcRect l="2953" t="31409" r="2385" b="31701"/>
          <a:stretch/>
        </p:blipFill>
        <p:spPr>
          <a:xfrm>
            <a:off x="266400" y="6327631"/>
            <a:ext cx="1936333" cy="42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2400"/>
              <a:buFont typeface="Calibri"/>
              <a:buNone/>
              <a:defRPr sz="24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266400" y="1180123"/>
            <a:ext cx="8611200" cy="49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ts val="1800"/>
              <a:buFont typeface="Noto Sans Symbols"/>
              <a:buChar char="▪"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19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191"/>
              </a:buClr>
              <a:buSzPts val="1600"/>
              <a:buFont typeface="Noto Sans Symbols"/>
              <a:buChar char="✔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191"/>
              </a:buClr>
              <a:buSzPts val="1600"/>
              <a:buFont typeface="Malgun Gothic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191"/>
              </a:buClr>
              <a:buSzPts val="1600"/>
              <a:buFont typeface="Noto Sans Symbols"/>
              <a:buChar char="⮚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6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phutx2000@kaist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ctrTitle"/>
          </p:nvPr>
        </p:nvSpPr>
        <p:spPr>
          <a:xfrm>
            <a:off x="429422" y="881409"/>
            <a:ext cx="8425767" cy="1188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ct val="25000"/>
              <a:buFont typeface="Calibri"/>
              <a:buNone/>
              <a:defRPr/>
            </a:pPr>
            <a:r>
              <a:rPr lang="en-US" sz="3400"/>
              <a:t>Super-Resolution in Deep Learning Era</a:t>
            </a:r>
            <a:endParaRPr sz="3400"/>
          </a:p>
        </p:txBody>
      </p:sp>
      <p:sp>
        <p:nvSpPr>
          <p:cNvPr id="63" name="Google Shape;63;p1"/>
          <p:cNvSpPr txBox="1"/>
          <p:nvPr/>
        </p:nvSpPr>
        <p:spPr>
          <a:xfrm>
            <a:off x="3193678" y="6091060"/>
            <a:ext cx="3305700" cy="90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ct val="135000"/>
              <a:buFont typeface="Noto Sans Symbols"/>
              <a:buNone/>
              <a:defRPr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ct val="135000"/>
              <a:buFont typeface="Noto Sans Symbols"/>
              <a:buNone/>
              <a:defRPr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School of Computing, KAIST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ct val="135000"/>
              <a:buFont typeface="Noto Sans Symbols"/>
              <a:buNone/>
              <a:defRPr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2026.09.10</a:t>
            </a:r>
            <a:endParaRPr lang="en-US"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ct val="135000"/>
              <a:buFont typeface="Noto Sans Symbols"/>
              <a:buNone/>
              <a:defRPr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2;p1"/>
          <p:cNvSpPr txBox="1"/>
          <p:nvPr/>
        </p:nvSpPr>
        <p:spPr>
          <a:xfrm>
            <a:off x="359116" y="1475709"/>
            <a:ext cx="8425767" cy="1188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lang="en-US" sz="3400"/>
              <a:t>A Model-Centric Perspective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5122" y="57150"/>
            <a:ext cx="787854" cy="78785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5817508" y="3611486"/>
            <a:ext cx="15421" cy="1213304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63;p1"/>
          <p:cNvSpPr txBox="1"/>
          <p:nvPr/>
        </p:nvSpPr>
        <p:spPr>
          <a:xfrm>
            <a:off x="5918282" y="3597450"/>
            <a:ext cx="2536290" cy="135060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rm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ct val="135000"/>
              <a:buFont typeface="Noto Sans Symbols"/>
              <a:buNone/>
              <a:defRPr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 Dinh Phu</a:t>
            </a:r>
          </a:p>
          <a:p>
            <a:pPr marL="0" marR="0" lvl="0" indent="0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ct val="135000"/>
              <a:buFont typeface="Noto Sans Symbols"/>
              <a:buNone/>
              <a:defRPr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Student</a:t>
            </a:r>
          </a:p>
          <a:p>
            <a:pPr marL="0" marR="0" lvl="0" indent="0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ct val="135000"/>
              <a:buFont typeface="Noto Sans Symbols"/>
              <a:buNone/>
              <a:defRPr/>
            </a:pPr>
            <a:r>
              <a:rPr lang="en-US" sz="16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phutx2000@kaist.ac.kr</a:t>
            </a:r>
            <a:endParaRPr lang="en-US" sz="160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4191"/>
              </a:buClr>
              <a:buSzPct val="135000"/>
              <a:buFont typeface="Noto Sans Symbols"/>
              <a:buNone/>
              <a:defRPr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AI2 Lab, KAIST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0906" y="3235810"/>
            <a:ext cx="3900789" cy="2329328"/>
          </a:xfrm>
          <a:prstGeom prst="rect">
            <a:avLst/>
          </a:prstGeom>
        </p:spPr>
      </p:pic>
      <p:sp>
        <p:nvSpPr>
          <p:cNvPr id="2" name="Google Shape;108;g291cb9f6f10_2_7">
            <a:extLst>
              <a:ext uri="{FF2B5EF4-FFF2-40B4-BE49-F238E27FC236}">
                <a16:creationId xmlns:a16="http://schemas.microsoft.com/office/drawing/2014/main" id="{CCA6AA23-1C3D-CE32-E440-E3EE191D20AE}"/>
              </a:ext>
            </a:extLst>
          </p:cNvPr>
          <p:cNvSpPr txBox="1">
            <a:spLocks/>
          </p:cNvSpPr>
          <p:nvPr/>
        </p:nvSpPr>
        <p:spPr>
          <a:xfrm>
            <a:off x="-204107" y="654346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0041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CS632_2026_Fall Embedded Operating Systems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91cb9f6f10_2_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8" name="Google Shape;108;g291cb9f6f10_2_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</a:t>
            </a:r>
            <a:r>
              <a:rPr lang="en-US" dirty="0"/>
              <a:t>Fall Embedded Operating Systems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1D903-3F9E-4612-A252-342CDB456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40" y="1578848"/>
            <a:ext cx="8374010" cy="2897902"/>
          </a:xfrm>
          <a:prstGeom prst="rect">
            <a:avLst/>
          </a:prstGeom>
        </p:spPr>
      </p:pic>
      <p:sp>
        <p:nvSpPr>
          <p:cNvPr id="7" name="Google Shape;102;g291cb9f6f10_2_7">
            <a:extLst>
              <a:ext uri="{FF2B5EF4-FFF2-40B4-BE49-F238E27FC236}">
                <a16:creationId xmlns:a16="http://schemas.microsoft.com/office/drawing/2014/main" id="{A0CE08B5-A7F2-446E-9B82-237E13135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Self-intro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83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1cb9f6f10_2_7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03" name="Google Shape;103;g291cb9f6f10_2_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8" name="Google Shape;108;g291cb9f6f10_2_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</a:t>
            </a:r>
            <a:r>
              <a:rPr lang="en-US" dirty="0"/>
              <a:t>Fall Embedded Operating Systems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865D1-E599-4EE1-8D96-E7140CAFAB02}"/>
              </a:ext>
            </a:extLst>
          </p:cNvPr>
          <p:cNvSpPr txBox="1"/>
          <p:nvPr/>
        </p:nvSpPr>
        <p:spPr>
          <a:xfrm>
            <a:off x="527694" y="1297703"/>
            <a:ext cx="8084264" cy="3330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/>
              <a:t>Super-Resolution Fundamentals: </a:t>
            </a:r>
            <a:r>
              <a:rPr lang="en-US" sz="180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P</a:t>
            </a:r>
            <a:r>
              <a:rPr lang="en-US" sz="1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roblem setup, Variants, and Evaluation</a:t>
            </a:r>
            <a:endParaRPr lang="en-US" sz="180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/>
              <a:t>Application of Super-Resolution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/>
              <a:t>Non-generative Image Super-Resolution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/>
              <a:t>Generative Image Super-Resolution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/>
              <a:t>Deep Learning for Video Super-Resolutoin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/>
              <a:t>Open Issues &amp; Pratical Takeaways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7ac73f6d3_0_12"/>
          <p:cNvSpPr txBox="1">
            <a:spLocks noGrp="1"/>
          </p:cNvSpPr>
          <p:nvPr>
            <p:ph type="title"/>
          </p:nvPr>
        </p:nvSpPr>
        <p:spPr>
          <a:xfrm>
            <a:off x="623888" y="1712258"/>
            <a:ext cx="7886700" cy="12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3200"/>
              <a:buFont typeface="Calibri"/>
              <a:buNone/>
            </a:pPr>
            <a:r>
              <a:rPr lang="en-US" sz="3600"/>
              <a:t>Super-Resolution Fundamentals</a:t>
            </a:r>
            <a:endParaRPr sz="3600"/>
          </a:p>
        </p:txBody>
      </p:sp>
      <p:sp>
        <p:nvSpPr>
          <p:cNvPr id="95" name="Google Shape;95;g227ac73f6d3_0_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6" name="Google Shape;96;g227ac73f6d3_0_12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1cb9f6f10_2_7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What is Super-Resolution (SR)?</a:t>
            </a:r>
            <a:endParaRPr/>
          </a:p>
        </p:txBody>
      </p:sp>
      <p:sp>
        <p:nvSpPr>
          <p:cNvPr id="103" name="Google Shape;103;g291cb9f6f10_2_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08" name="Google Shape;108;g291cb9f6f10_2_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865D1-E599-4EE1-8D96-E7140CAFAB02}"/>
              </a:ext>
            </a:extLst>
          </p:cNvPr>
          <p:cNvSpPr txBox="1"/>
          <p:nvPr/>
        </p:nvSpPr>
        <p:spPr>
          <a:xfrm>
            <a:off x="565512" y="1049363"/>
            <a:ext cx="8390528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/>
              <a:t>Generate High-Resolution (HR) image/video from </a:t>
            </a:r>
          </a:p>
          <a:p>
            <a:pPr>
              <a:lnSpc>
                <a:spcPct val="150000"/>
              </a:lnSpc>
            </a:pPr>
            <a:r>
              <a:rPr lang="en-US" sz="2200"/>
              <a:t>     Low-Resolution (LR) image/video</a:t>
            </a:r>
          </a:p>
        </p:txBody>
      </p:sp>
      <p:pic>
        <p:nvPicPr>
          <p:cNvPr id="2050" name="Picture 2" descr="A “very” friendly introduction to Image Super Resolution: Enhancing  Pictures like a Boss! 😎📷 | by Nisarg Doshi | Medium">
            <a:extLst>
              <a:ext uri="{FF2B5EF4-FFF2-40B4-BE49-F238E27FC236}">
                <a16:creationId xmlns:a16="http://schemas.microsoft.com/office/drawing/2014/main" id="{A0B57886-8072-4E28-BB37-B60FAACFC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2252066"/>
            <a:ext cx="7990782" cy="348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93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1cb9f6f10_2_7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Super-Resolution Category</a:t>
            </a:r>
            <a:endParaRPr/>
          </a:p>
        </p:txBody>
      </p:sp>
      <p:sp>
        <p:nvSpPr>
          <p:cNvPr id="103" name="Google Shape;103;g291cb9f6f10_2_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8" name="Google Shape;108;g291cb9f6f10_2_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6868D-8D6B-4E55-AEB6-F99FA036C59C}"/>
              </a:ext>
            </a:extLst>
          </p:cNvPr>
          <p:cNvSpPr/>
          <p:nvPr/>
        </p:nvSpPr>
        <p:spPr>
          <a:xfrm>
            <a:off x="417220" y="1065656"/>
            <a:ext cx="8460380" cy="206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S</a:t>
            </a:r>
            <a:r>
              <a:rPr lang="en-US" sz="2200"/>
              <a:t>ingle </a:t>
            </a:r>
            <a:r>
              <a:rPr lang="en-US" sz="2200" b="1"/>
              <a:t>I</a:t>
            </a:r>
            <a:r>
              <a:rPr lang="en-US" sz="2200"/>
              <a:t>mage </a:t>
            </a:r>
            <a:r>
              <a:rPr lang="en-US" sz="2200" b="1"/>
              <a:t>S</a:t>
            </a:r>
            <a:r>
              <a:rPr lang="en-US" sz="2200"/>
              <a:t>uper-</a:t>
            </a:r>
            <a:r>
              <a:rPr lang="en-US" sz="2200" b="1"/>
              <a:t>R</a:t>
            </a:r>
            <a:r>
              <a:rPr lang="en-US" sz="2200"/>
              <a:t>esolution: High ambiguity, Fast inference</a:t>
            </a:r>
          </a:p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M</a:t>
            </a:r>
            <a:r>
              <a:rPr lang="en-US" sz="2200"/>
              <a:t>ultiple </a:t>
            </a:r>
            <a:r>
              <a:rPr lang="en-US" sz="2200" b="1"/>
              <a:t>I</a:t>
            </a:r>
            <a:r>
              <a:rPr lang="en-US" sz="2200"/>
              <a:t>mage </a:t>
            </a:r>
            <a:r>
              <a:rPr lang="en-US" sz="2200" b="1"/>
              <a:t>S</a:t>
            </a:r>
            <a:r>
              <a:rPr lang="en-US" sz="2200"/>
              <a:t>uper-</a:t>
            </a:r>
            <a:r>
              <a:rPr lang="en-US" sz="2200" b="1"/>
              <a:t>R</a:t>
            </a:r>
            <a:r>
              <a:rPr lang="en-US" sz="2200"/>
              <a:t>esolution: Reduce ambiguity, Alignment</a:t>
            </a:r>
          </a:p>
          <a:p>
            <a:pPr marL="342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/>
              <a:t>V</a:t>
            </a:r>
            <a:r>
              <a:rPr lang="en-US" sz="2200"/>
              <a:t>ideo </a:t>
            </a:r>
            <a:r>
              <a:rPr lang="en-US" sz="2200" b="1"/>
              <a:t>S</a:t>
            </a:r>
            <a:r>
              <a:rPr lang="en-US" sz="2200"/>
              <a:t>uper-</a:t>
            </a:r>
            <a:r>
              <a:rPr lang="en-US" sz="2200" b="1"/>
              <a:t>R</a:t>
            </a:r>
            <a:r>
              <a:rPr lang="en-US" sz="2200"/>
              <a:t>esolution: Motion cues, More memory and latency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C49A8F-D101-483D-B636-F3F6CA757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32" y="3429000"/>
            <a:ext cx="3947699" cy="6980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967DFA-EE0B-4FFD-99FA-0F46369F4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792" y="3467594"/>
            <a:ext cx="3947699" cy="698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72A73B-3004-4F6C-B67A-E0E2F6FA1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681" y="3213178"/>
            <a:ext cx="320697" cy="3544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5773C3-72C0-4A2D-80D3-74FEAEAD2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681" y="4127005"/>
            <a:ext cx="282349" cy="312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95AA6-FE6A-4936-9AF4-DF3DD388FA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305" y="4724970"/>
            <a:ext cx="4654025" cy="12883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929CFA1-915B-472E-945F-83A46E00062E}"/>
              </a:ext>
            </a:extLst>
          </p:cNvPr>
          <p:cNvSpPr/>
          <p:nvPr/>
        </p:nvSpPr>
        <p:spPr>
          <a:xfrm>
            <a:off x="2309305" y="4181913"/>
            <a:ext cx="7841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/>
              <a:t>SISR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978FF6-97C0-46F8-ACC7-7642EA1317BC}"/>
              </a:ext>
            </a:extLst>
          </p:cNvPr>
          <p:cNvSpPr/>
          <p:nvPr/>
        </p:nvSpPr>
        <p:spPr>
          <a:xfrm>
            <a:off x="6673546" y="4182482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/>
              <a:t>MISR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05ACC8-61BD-4C6C-BC4E-969BC4A1C2AC}"/>
              </a:ext>
            </a:extLst>
          </p:cNvPr>
          <p:cNvSpPr/>
          <p:nvPr/>
        </p:nvSpPr>
        <p:spPr>
          <a:xfrm>
            <a:off x="4332974" y="5863564"/>
            <a:ext cx="7136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/>
              <a:t>VSR</a:t>
            </a:r>
          </a:p>
        </p:txBody>
      </p:sp>
    </p:spTree>
    <p:extLst>
      <p:ext uri="{BB962C8B-B14F-4D97-AF65-F5344CB8AC3E}">
        <p14:creationId xmlns:p14="http://schemas.microsoft.com/office/powerpoint/2010/main" val="882742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hoya012.github.io/assets/img/deep_learning_super_resolution/6.PNG">
            <a:extLst>
              <a:ext uri="{FF2B5EF4-FFF2-40B4-BE49-F238E27FC236}">
                <a16:creationId xmlns:a16="http://schemas.microsoft.com/office/drawing/2014/main" id="{72279F0B-3F7F-4E01-BB03-2194C0EF2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335" y="2436648"/>
            <a:ext cx="7002230" cy="398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Google Shape;102;g291cb9f6f10_2_7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Traditional Technique</a:t>
            </a:r>
            <a:endParaRPr/>
          </a:p>
        </p:txBody>
      </p:sp>
      <p:sp>
        <p:nvSpPr>
          <p:cNvPr id="103" name="Google Shape;103;g291cb9f6f10_2_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8" name="Google Shape;108;g291cb9f6f10_2_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A6C44-8181-4690-8A1F-AF755A2A8834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/>
              <a:t>Traditional (Unlearning) approaches for Super-Resolution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6868D-8D6B-4E55-AEB6-F99FA036C59C}"/>
              </a:ext>
            </a:extLst>
          </p:cNvPr>
          <p:cNvSpPr/>
          <p:nvPr/>
        </p:nvSpPr>
        <p:spPr>
          <a:xfrm>
            <a:off x="977370" y="1531827"/>
            <a:ext cx="8659390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Interpolation methods: bicubic, bilinear or Lanczos interpols</a:t>
            </a:r>
          </a:p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Easy, fast… but super poor quality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0E2ADF-05B5-4991-B049-5A804259683B}"/>
              </a:ext>
            </a:extLst>
          </p:cNvPr>
          <p:cNvSpPr/>
          <p:nvPr/>
        </p:nvSpPr>
        <p:spPr>
          <a:xfrm>
            <a:off x="7315200" y="3235960"/>
            <a:ext cx="995680" cy="6553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9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1cb9f6f10_2_7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Evaluation Metric – Distortion Metric</a:t>
            </a:r>
            <a:endParaRPr/>
          </a:p>
        </p:txBody>
      </p:sp>
      <p:sp>
        <p:nvSpPr>
          <p:cNvPr id="103" name="Google Shape;103;g291cb9f6f10_2_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8" name="Google Shape;108;g291cb9f6f10_2_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671909-D3FF-473C-B58B-BE8524081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1" y="1190200"/>
            <a:ext cx="3304008" cy="2472480"/>
          </a:xfrm>
          <a:prstGeom prst="rect">
            <a:avLst/>
          </a:prstGeom>
        </p:spPr>
      </p:pic>
      <p:sp>
        <p:nvSpPr>
          <p:cNvPr id="10" name="Google Shape;94;p2">
            <a:extLst>
              <a:ext uri="{FF2B5EF4-FFF2-40B4-BE49-F238E27FC236}">
                <a16:creationId xmlns:a16="http://schemas.microsoft.com/office/drawing/2014/main" id="{45F9A673-EA88-4C14-914F-ED014898F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35564" y="927113"/>
            <a:ext cx="6100175" cy="513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>
              <a:lnSpc>
                <a:spcPct val="150000"/>
              </a:lnSpc>
              <a:spcBef>
                <a:spcPts val="0"/>
              </a:spcBef>
              <a:buSzPct val="108108"/>
              <a:buFont typeface="Courier New" panose="02070309020205020404" pitchFamily="49" charset="0"/>
              <a:buChar char="o"/>
            </a:pPr>
            <a:r>
              <a:rPr lang="en-US" sz="1600" b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Peak Signal-to-Noise Ratio (PSNR)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ct val="108108"/>
            </a:pPr>
            <a:endParaRPr lang="en-US" sz="2200" b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ct val="108108"/>
              <a:buNone/>
            </a:pPr>
            <a:endParaRPr lang="en-US" sz="2200" b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lvl="0">
              <a:lnSpc>
                <a:spcPct val="150000"/>
              </a:lnSpc>
              <a:spcBef>
                <a:spcPts val="0"/>
              </a:spcBef>
              <a:buSzPct val="108108"/>
              <a:buFont typeface="Courier New" panose="02070309020205020404" pitchFamily="49" charset="0"/>
              <a:buChar char="o"/>
            </a:pPr>
            <a:r>
              <a:rPr lang="en-US" sz="1600" b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Structural Similarity Index Measure (SSIM) </a:t>
            </a:r>
            <a:br>
              <a:rPr lang="en-US" sz="1600" b="0">
                <a:solidFill>
                  <a:srgbClr val="000000"/>
                </a:solidFill>
                <a:latin typeface="Arial"/>
                <a:cs typeface="Arial"/>
                <a:sym typeface="Arial"/>
              </a:rPr>
            </a:br>
            <a:endParaRPr sz="1600" b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43EAD5-FA19-4C78-9180-75A134B0D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301" y="1509728"/>
            <a:ext cx="2988038" cy="6823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97B63D-AA9F-4A1D-B745-1380EA3A0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516" y="3005155"/>
            <a:ext cx="4512687" cy="7140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BD1002-83F0-4E1E-BBDB-B29B05A00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7059" y="3894830"/>
            <a:ext cx="5376888" cy="2339252"/>
          </a:xfrm>
          <a:prstGeom prst="rect">
            <a:avLst/>
          </a:prstGeom>
        </p:spPr>
      </p:pic>
      <p:sp>
        <p:nvSpPr>
          <p:cNvPr id="14" name="Half Frame 13">
            <a:extLst>
              <a:ext uri="{FF2B5EF4-FFF2-40B4-BE49-F238E27FC236}">
                <a16:creationId xmlns:a16="http://schemas.microsoft.com/office/drawing/2014/main" id="{C7AA89BB-AF44-4E11-96A8-7457CB8B4DA5}"/>
              </a:ext>
            </a:extLst>
          </p:cNvPr>
          <p:cNvSpPr/>
          <p:nvPr/>
        </p:nvSpPr>
        <p:spPr>
          <a:xfrm>
            <a:off x="4089748" y="1509729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1D6B5243-566B-48FA-A44C-FF0988DDFAE0}"/>
              </a:ext>
            </a:extLst>
          </p:cNvPr>
          <p:cNvSpPr/>
          <p:nvPr/>
        </p:nvSpPr>
        <p:spPr>
          <a:xfrm rot="10800000">
            <a:off x="6937213" y="1895110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6562C6CB-ADFA-4E62-950E-8BB508E2D937}"/>
              </a:ext>
            </a:extLst>
          </p:cNvPr>
          <p:cNvSpPr/>
          <p:nvPr/>
        </p:nvSpPr>
        <p:spPr>
          <a:xfrm>
            <a:off x="4122119" y="3005154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Half Frame 16">
            <a:extLst>
              <a:ext uri="{FF2B5EF4-FFF2-40B4-BE49-F238E27FC236}">
                <a16:creationId xmlns:a16="http://schemas.microsoft.com/office/drawing/2014/main" id="{44BED999-B33C-4683-AF89-167BC6C9A2FE}"/>
              </a:ext>
            </a:extLst>
          </p:cNvPr>
          <p:cNvSpPr/>
          <p:nvPr/>
        </p:nvSpPr>
        <p:spPr>
          <a:xfrm rot="10800000">
            <a:off x="8395348" y="3411414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 descr="Up arrow Vectors - Download Free High-Quality Vectors | Magnific (formerly Freepik)">
            <a:extLst>
              <a:ext uri="{FF2B5EF4-FFF2-40B4-BE49-F238E27FC236}">
                <a16:creationId xmlns:a16="http://schemas.microsoft.com/office/drawing/2014/main" id="{4CA41691-8CE2-4535-AF78-94807A08D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960" y="988467"/>
            <a:ext cx="344758" cy="34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Up arrow Vectors - Download Free High-Quality Vectors | Magnific (formerly Freepik)">
            <a:extLst>
              <a:ext uri="{FF2B5EF4-FFF2-40B4-BE49-F238E27FC236}">
                <a16:creationId xmlns:a16="http://schemas.microsoft.com/office/drawing/2014/main" id="{394F90CE-A2D4-4674-BF83-53C2360EE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850" y="2348462"/>
            <a:ext cx="344758" cy="34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613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1cb9f6f10_2_7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Evaluation Metric – Perceptual Metric</a:t>
            </a:r>
            <a:endParaRPr/>
          </a:p>
        </p:txBody>
      </p:sp>
      <p:sp>
        <p:nvSpPr>
          <p:cNvPr id="103" name="Google Shape;103;g291cb9f6f10_2_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8" name="Google Shape;108;g291cb9f6f10_2_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671909-D3FF-473C-B58B-BE8524081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1" y="1190200"/>
            <a:ext cx="3304008" cy="2472480"/>
          </a:xfrm>
          <a:prstGeom prst="rect">
            <a:avLst/>
          </a:prstGeom>
        </p:spPr>
      </p:pic>
      <p:sp>
        <p:nvSpPr>
          <p:cNvPr id="10" name="Google Shape;94;p2">
            <a:extLst>
              <a:ext uri="{FF2B5EF4-FFF2-40B4-BE49-F238E27FC236}">
                <a16:creationId xmlns:a16="http://schemas.microsoft.com/office/drawing/2014/main" id="{45F9A673-EA88-4C14-914F-ED014898F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35565" y="927113"/>
            <a:ext cx="5542036" cy="513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>
              <a:lnSpc>
                <a:spcPct val="150000"/>
              </a:lnSpc>
              <a:spcBef>
                <a:spcPts val="0"/>
              </a:spcBef>
              <a:buSzPct val="108108"/>
              <a:buFont typeface="Courier New" panose="02070309020205020404" pitchFamily="49" charset="0"/>
              <a:buChar char="o"/>
            </a:pPr>
            <a:r>
              <a:rPr lang="en-US" sz="1600" b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Learned Perceptual Image Patch Similarity (LPIPS)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ct val="108108"/>
            </a:pPr>
            <a:endParaRPr lang="en-US" sz="2200" b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ct val="108108"/>
              <a:buNone/>
            </a:pPr>
            <a:endParaRPr lang="en-US" sz="2200" b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lvl="0">
              <a:lnSpc>
                <a:spcPct val="150000"/>
              </a:lnSpc>
              <a:spcBef>
                <a:spcPts val="0"/>
              </a:spcBef>
              <a:buSzPct val="108108"/>
              <a:buFont typeface="Courier New" panose="02070309020205020404" pitchFamily="49" charset="0"/>
              <a:buChar char="o"/>
            </a:pPr>
            <a:r>
              <a:rPr lang="en-US" sz="1600" b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Fre’chet Inception Distance (FID) </a:t>
            </a:r>
            <a:br>
              <a:rPr lang="en-US" sz="1600" b="0">
                <a:solidFill>
                  <a:srgbClr val="000000"/>
                </a:solidFill>
                <a:latin typeface="Arial"/>
                <a:cs typeface="Arial"/>
                <a:sym typeface="Arial"/>
              </a:rPr>
            </a:br>
            <a:endParaRPr lang="en-US" sz="1600" b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lvl="0">
              <a:lnSpc>
                <a:spcPct val="150000"/>
              </a:lnSpc>
              <a:spcBef>
                <a:spcPts val="0"/>
              </a:spcBef>
              <a:buSzPct val="108108"/>
              <a:buFont typeface="Courier New" panose="02070309020205020404" pitchFamily="49" charset="0"/>
              <a:buChar char="o"/>
            </a:pPr>
            <a:endParaRPr lang="en-US" sz="2200" b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lvl="0">
              <a:lnSpc>
                <a:spcPct val="150000"/>
              </a:lnSpc>
              <a:spcBef>
                <a:spcPts val="0"/>
              </a:spcBef>
              <a:buSzPct val="108108"/>
              <a:buFont typeface="Courier New" panose="02070309020205020404" pitchFamily="49" charset="0"/>
              <a:buChar char="o"/>
            </a:pPr>
            <a:r>
              <a:rPr lang="en-US" sz="1600" b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Clip-based Image Quality Assessment (ClipIQA)</a:t>
            </a:r>
            <a:endParaRPr sz="1600" b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" name="Half Frame 13">
            <a:extLst>
              <a:ext uri="{FF2B5EF4-FFF2-40B4-BE49-F238E27FC236}">
                <a16:creationId xmlns:a16="http://schemas.microsoft.com/office/drawing/2014/main" id="{C7AA89BB-AF44-4E11-96A8-7457CB8B4DA5}"/>
              </a:ext>
            </a:extLst>
          </p:cNvPr>
          <p:cNvSpPr/>
          <p:nvPr/>
        </p:nvSpPr>
        <p:spPr>
          <a:xfrm>
            <a:off x="3606578" y="1519329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1D6B5243-566B-48FA-A44C-FF0988DDFAE0}"/>
              </a:ext>
            </a:extLst>
          </p:cNvPr>
          <p:cNvSpPr/>
          <p:nvPr/>
        </p:nvSpPr>
        <p:spPr>
          <a:xfrm rot="10800000">
            <a:off x="7972263" y="1839644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Half Frame 15">
            <a:extLst>
              <a:ext uri="{FF2B5EF4-FFF2-40B4-BE49-F238E27FC236}">
                <a16:creationId xmlns:a16="http://schemas.microsoft.com/office/drawing/2014/main" id="{6562C6CB-ADFA-4E62-950E-8BB508E2D937}"/>
              </a:ext>
            </a:extLst>
          </p:cNvPr>
          <p:cNvSpPr/>
          <p:nvPr/>
        </p:nvSpPr>
        <p:spPr>
          <a:xfrm>
            <a:off x="3606578" y="2877670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Half Frame 16">
            <a:extLst>
              <a:ext uri="{FF2B5EF4-FFF2-40B4-BE49-F238E27FC236}">
                <a16:creationId xmlns:a16="http://schemas.microsoft.com/office/drawing/2014/main" id="{44BED999-B33C-4683-AF89-167BC6C9A2FE}"/>
              </a:ext>
            </a:extLst>
          </p:cNvPr>
          <p:cNvSpPr/>
          <p:nvPr/>
        </p:nvSpPr>
        <p:spPr>
          <a:xfrm rot="10800000">
            <a:off x="7731137" y="3071171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510FA5-0006-4827-B363-65F06086EB6F}"/>
              </a:ext>
            </a:extLst>
          </p:cNvPr>
          <p:cNvSpPr txBox="1"/>
          <p:nvPr/>
        </p:nvSpPr>
        <p:spPr>
          <a:xfrm>
            <a:off x="3538473" y="4801280"/>
            <a:ext cx="855618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/>
              <a:t>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9BF3A4-2B1E-41B4-97FA-117A608C7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874" y="1560531"/>
            <a:ext cx="4572000" cy="6136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A17690-CDB2-494D-B80C-AB6A7801F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205" y="2925038"/>
            <a:ext cx="4204348" cy="434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40DF43-B05F-43AA-ACC4-80ED5E956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3855" y="4103825"/>
            <a:ext cx="3276774" cy="578254"/>
          </a:xfrm>
          <a:prstGeom prst="rect">
            <a:avLst/>
          </a:prstGeom>
        </p:spPr>
      </p:pic>
      <p:sp>
        <p:nvSpPr>
          <p:cNvPr id="19" name="Half Frame 18">
            <a:extLst>
              <a:ext uri="{FF2B5EF4-FFF2-40B4-BE49-F238E27FC236}">
                <a16:creationId xmlns:a16="http://schemas.microsoft.com/office/drawing/2014/main" id="{C8941A74-6F24-4EA3-88BD-70DC49D155A8}"/>
              </a:ext>
            </a:extLst>
          </p:cNvPr>
          <p:cNvSpPr/>
          <p:nvPr/>
        </p:nvSpPr>
        <p:spPr>
          <a:xfrm>
            <a:off x="3606578" y="4103825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Half Frame 19">
            <a:extLst>
              <a:ext uri="{FF2B5EF4-FFF2-40B4-BE49-F238E27FC236}">
                <a16:creationId xmlns:a16="http://schemas.microsoft.com/office/drawing/2014/main" id="{02974376-E23B-4AED-AB9D-58813E8F31F9}"/>
              </a:ext>
            </a:extLst>
          </p:cNvPr>
          <p:cNvSpPr/>
          <p:nvPr/>
        </p:nvSpPr>
        <p:spPr>
          <a:xfrm rot="10800000">
            <a:off x="6711367" y="4346049"/>
            <a:ext cx="482252" cy="375781"/>
          </a:xfrm>
          <a:prstGeom prst="halfFrame">
            <a:avLst>
              <a:gd name="adj1" fmla="val 5936"/>
              <a:gd name="adj2" fmla="val 6621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50" name="Picture 2" descr="Red Down Arrow PNG">
            <a:extLst>
              <a:ext uri="{FF2B5EF4-FFF2-40B4-BE49-F238E27FC236}">
                <a16:creationId xmlns:a16="http://schemas.microsoft.com/office/drawing/2014/main" id="{92CA8F15-9482-4029-A52A-32D077EA7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1380" y="1008026"/>
            <a:ext cx="426220" cy="32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Red Down Arrow PNG">
            <a:extLst>
              <a:ext uri="{FF2B5EF4-FFF2-40B4-BE49-F238E27FC236}">
                <a16:creationId xmlns:a16="http://schemas.microsoft.com/office/drawing/2014/main" id="{2F0E139A-0202-40D9-B098-B131CBAA1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399" y="2390379"/>
            <a:ext cx="426220" cy="32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Up arrow Vectors - Download Free High-Quality Vectors | Magnific (formerly Freepik)">
            <a:extLst>
              <a:ext uri="{FF2B5EF4-FFF2-40B4-BE49-F238E27FC236}">
                <a16:creationId xmlns:a16="http://schemas.microsoft.com/office/drawing/2014/main" id="{6D4AF0B6-4D1A-496A-A5C6-98DC07061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389" y="3553686"/>
            <a:ext cx="344758" cy="34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1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00f9067ec7_4_107"/>
          <p:cNvSpPr txBox="1">
            <a:spLocks noGrp="1"/>
          </p:cNvSpPr>
          <p:nvPr>
            <p:ph type="title"/>
          </p:nvPr>
        </p:nvSpPr>
        <p:spPr>
          <a:xfrm>
            <a:off x="623900" y="2220678"/>
            <a:ext cx="78867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3200"/>
              <a:buFont typeface="Calibri"/>
              <a:buNone/>
            </a:pPr>
            <a:r>
              <a:rPr lang="en-US" sz="3600"/>
              <a:t>Applications of Super-Resolution</a:t>
            </a:r>
            <a:endParaRPr sz="3600"/>
          </a:p>
        </p:txBody>
      </p:sp>
      <p:sp>
        <p:nvSpPr>
          <p:cNvPr id="1025" name="Google Shape;1025;g300f9067ec7_4_10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026" name="Google Shape;1026;g300f9067ec7_4_10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Applications: Why SR Matters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5122" name="Picture 2" descr="https://lh7-rt.googleusercontent.com/slidesz/AGV_vUedn0UnfJgBed-iesNoOtz2KDvPttH37wpY4A5w85Ch241PKa_EsydH1A5G5r74Fj5GdRt-5_A3izt0t5IQ3GEuqWARx_hX4kuRrsIHeRCzBA710s2GZ_mXUkb-1SRQLYX3NQi80lZ6mPXghvssMzU=s2048?key=hwRWObh3XCIQC2PH9AMUX7OG">
            <a:extLst>
              <a:ext uri="{FF2B5EF4-FFF2-40B4-BE49-F238E27FC236}">
                <a16:creationId xmlns:a16="http://schemas.microsoft.com/office/drawing/2014/main" id="{9925E898-1026-4981-88D1-67E4648D2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27" y="1924332"/>
            <a:ext cx="7777946" cy="3389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96B659-D339-488B-912B-E63A9AD7D5F4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/>
              <a:t>Remote sensing satellite imagery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Applications: Why SR Matters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C856A-8B55-484C-BDE2-FD9B6D9EE84E}"/>
              </a:ext>
            </a:extLst>
          </p:cNvPr>
          <p:cNvSpPr txBox="1"/>
          <p:nvPr/>
        </p:nvSpPr>
        <p:spPr>
          <a:xfrm>
            <a:off x="611232" y="994436"/>
            <a:ext cx="3300274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/>
              <a:t>Medical imaging</a:t>
            </a:r>
          </a:p>
        </p:txBody>
      </p:sp>
      <p:pic>
        <p:nvPicPr>
          <p:cNvPr id="6148" name="Picture 4" descr="https://lh7-rt.googleusercontent.com/slidesz/AGV_vUekg0gwl6a9m7bNL4P0liQvh8QxE0iMru8Mh_-XVVL91ro_4rXajuqYhVNH1Abmvu05wezxUKbJRVRrbVRh1cRQu2S-RFW26qWAI9FE5Hp14iN7Bc81zn5Ins_ZgVHn1g0GuIvI9WmhYpS73iLo_A=s2048?key=hwRWObh3XCIQC2PH9AMUX7OG">
            <a:extLst>
              <a:ext uri="{FF2B5EF4-FFF2-40B4-BE49-F238E27FC236}">
                <a16:creationId xmlns:a16="http://schemas.microsoft.com/office/drawing/2014/main" id="{05F11FAA-7090-46A4-BA8D-725B5357A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05" y="1693273"/>
            <a:ext cx="4019815" cy="244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s://lh7-rt.googleusercontent.com/slidesz/AGV_vUdWYDzsQOhtLidsEJP5p2yGcFk8htziL2qxHrEot2c04mmkn3HQ8CqiKQ5ycLSjjKLHVfXwk9XNNFgGbKoWFHt4klenwBKIdaDQNUfUF28_qryBz5MNO6r9NzSR2imOZcJVJq0_EOFlG5zjzqE6SQU=s2048?key=hwRWObh3XCIQC2PH9AMUX7OG">
            <a:extLst>
              <a:ext uri="{FF2B5EF4-FFF2-40B4-BE49-F238E27FC236}">
                <a16:creationId xmlns:a16="http://schemas.microsoft.com/office/drawing/2014/main" id="{33F61B3E-1B46-45BE-964D-7B0482B78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995" y="3667761"/>
            <a:ext cx="4728714" cy="229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16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Applications: Why SR Matters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C856A-8B55-484C-BDE2-FD9B6D9EE84E}"/>
              </a:ext>
            </a:extLst>
          </p:cNvPr>
          <p:cNvSpPr txBox="1"/>
          <p:nvPr/>
        </p:nvSpPr>
        <p:spPr>
          <a:xfrm>
            <a:off x="611231" y="994436"/>
            <a:ext cx="8178477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dirty="0"/>
              <a:t>Multimedia industry, security camera</a:t>
            </a:r>
            <a:r>
              <a:rPr lang="en-US" sz="2200"/>
              <a:t>, TV, Video Game,…</a:t>
            </a:r>
            <a:endParaRPr lang="en-US" sz="2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73F520-40F1-46C5-86CF-25F9728C22A8}"/>
              </a:ext>
            </a:extLst>
          </p:cNvPr>
          <p:cNvSpPr/>
          <p:nvPr/>
        </p:nvSpPr>
        <p:spPr>
          <a:xfrm>
            <a:off x="4454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38378C-BE54-4F03-9FFE-F439F874FA71}"/>
              </a:ext>
            </a:extLst>
          </p:cNvPr>
          <p:cNvSpPr/>
          <p:nvPr/>
        </p:nvSpPr>
        <p:spPr>
          <a:xfrm>
            <a:off x="4454820" y="3275112"/>
            <a:ext cx="2343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 </a:t>
            </a:r>
          </a:p>
        </p:txBody>
      </p:sp>
      <p:pic>
        <p:nvPicPr>
          <p:cNvPr id="7176" name="Picture 8" descr="https://lh7-rt.googleusercontent.com/slidesz/AGV_vUeGNZOmcyiGX6ojiqDuPkjF7mjadPWhueZvbAsu4PDQ7OlW9_FygqrGnOnSTb99fCLDT0c3eoBteLOwSQLoySWk7hF_-SpOdsj_xFH88B1YdeMwZtCR1twM0A6eXKWpGtnK4kfRrqlEvjvLGTqjf5U=s2048?key=jycmerHF3ohUAq-kGtoWq4FU">
            <a:extLst>
              <a:ext uri="{FF2B5EF4-FFF2-40B4-BE49-F238E27FC236}">
                <a16:creationId xmlns:a16="http://schemas.microsoft.com/office/drawing/2014/main" id="{6A8F6BFA-0ACB-40CD-8477-7413C5CD1CC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31" y="1558717"/>
            <a:ext cx="2360045" cy="171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https://lh7-rt.googleusercontent.com/slidesz/AGV_vUcV1oTxcECm16r-VFDyok3PfvwfaKi3zf4D89LTgXANYqVTfYbwATtXrwVYRBX7VTyTnQqZ0_t5tNYn2IVR_sZWiHZOGCvE165ZbQkfj_-LudlvT-ldA1endNFK2OQisKTJ3uh_y974oVrE0o5ipwM=s2048?key=jycmerHF3ohUAq-kGtoWq4FU">
            <a:extLst>
              <a:ext uri="{FF2B5EF4-FFF2-40B4-BE49-F238E27FC236}">
                <a16:creationId xmlns:a16="http://schemas.microsoft.com/office/drawing/2014/main" id="{DEAD2CCF-F426-4199-84B0-DAD1DFED6C9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409" y="2684396"/>
            <a:ext cx="5433360" cy="310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054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00f9067ec7_4_107"/>
          <p:cNvSpPr txBox="1">
            <a:spLocks noGrp="1"/>
          </p:cNvSpPr>
          <p:nvPr>
            <p:ph type="title"/>
          </p:nvPr>
        </p:nvSpPr>
        <p:spPr>
          <a:xfrm>
            <a:off x="623900" y="2220678"/>
            <a:ext cx="7886700" cy="73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ct val="25000"/>
              <a:buFont typeface="Calibri"/>
              <a:buNone/>
              <a:defRPr/>
            </a:pPr>
            <a:r>
              <a:rPr lang="en-US" sz="3600"/>
              <a:t>Non-generative Image Super-Resolution</a:t>
            </a:r>
          </a:p>
        </p:txBody>
      </p:sp>
      <p:sp>
        <p:nvSpPr>
          <p:cNvPr id="1025" name="Google Shape;1025;g300f9067ec7_4_10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14</a:t>
            </a:fld>
            <a:endParaRPr/>
          </a:p>
        </p:txBody>
      </p:sp>
      <p:sp>
        <p:nvSpPr>
          <p:cNvPr id="1026" name="Google Shape;1026;g300f9067ec7_4_10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CS632_2026_Fall Embedded Operating Systems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>
                <a:solidFill>
                  <a:srgbClr val="004B9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Non-Generative Image SR: Architecture Evolution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DF5881-4808-4D3A-AE82-D3A22349103B}"/>
              </a:ext>
            </a:extLst>
          </p:cNvPr>
          <p:cNvSpPr/>
          <p:nvPr/>
        </p:nvSpPr>
        <p:spPr>
          <a:xfrm>
            <a:off x="321672" y="6022280"/>
            <a:ext cx="839052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i="1">
                <a:solidFill>
                  <a:srgbClr val="222222"/>
                </a:solidFill>
                <a:latin typeface="Arial" panose="020B0604020202020204" pitchFamily="34" charset="0"/>
              </a:rPr>
              <a:t>Credit</a:t>
            </a:r>
            <a:r>
              <a:rPr lang="en-US" sz="1000" i="1">
                <a:solidFill>
                  <a:srgbClr val="222222"/>
                </a:solidFill>
                <a:latin typeface="Arial" panose="020B0604020202020204" pitchFamily="34" charset="0"/>
              </a:rPr>
              <a:t>: ChatGPT Image</a:t>
            </a:r>
            <a:endParaRPr lang="en-US" sz="1000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5D8FB-6EDD-4BCA-8EF0-9BAB23205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25" y="1207198"/>
            <a:ext cx="8477550" cy="477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289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>
                <a:solidFill>
                  <a:srgbClr val="004B9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SRCNN: The Starting Point of Deep SR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22E3D-EB8B-4896-8320-952525D8BCD5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/>
              <a:t>First Deep Learning architecture for SISR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8964E9-B083-40DC-A5B1-483836512C53}"/>
              </a:ext>
            </a:extLst>
          </p:cNvPr>
          <p:cNvSpPr/>
          <p:nvPr/>
        </p:nvSpPr>
        <p:spPr>
          <a:xfrm>
            <a:off x="977370" y="1531827"/>
            <a:ext cx="8659390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SRCNN (2014): 3-layer CNN, MSE Loss, Early Upsampling </a:t>
            </a:r>
          </a:p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Outperform traditional methods</a:t>
            </a:r>
          </a:p>
        </p:txBody>
      </p:sp>
      <p:pic>
        <p:nvPicPr>
          <p:cNvPr id="9220" name="Picture 4" descr="딥러닝을 사용한 super-resolution 논문 소개(SRCNN, VDSR, SRGAN(SRResNet), EDSR, MDSR)">
            <a:extLst>
              <a:ext uri="{FF2B5EF4-FFF2-40B4-BE49-F238E27FC236}">
                <a16:creationId xmlns:a16="http://schemas.microsoft.com/office/drawing/2014/main" id="{1A622678-62B4-45EF-BDF5-A9EDE3AD9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49" y="3465003"/>
            <a:ext cx="5771173" cy="243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3138B5-328B-4E4C-BEE8-7528D91ECCB0}"/>
              </a:ext>
            </a:extLst>
          </p:cNvPr>
          <p:cNvSpPr/>
          <p:nvPr/>
        </p:nvSpPr>
        <p:spPr>
          <a:xfrm>
            <a:off x="321672" y="602228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i="1">
                <a:solidFill>
                  <a:srgbClr val="222222"/>
                </a:solidFill>
                <a:latin typeface="Arial" panose="020B0604020202020204" pitchFamily="34" charset="0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 panose="020B0604020202020204" pitchFamily="34" charset="0"/>
              </a:rPr>
              <a:t>: Dong, C., Loy, C. C., He, K., &amp; Tang, X. (2015). Image super-resolution using deep convolutional networks. IEEE transactions on pattern analysis and machine intelligence, 38(2), 295-307.</a:t>
            </a:r>
            <a:endParaRPr lang="en-US" sz="1000" i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7E6055-F39D-4E3A-AB0D-1AC152C5B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304" y="2069218"/>
            <a:ext cx="2842511" cy="139578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F61CF9-E053-48C8-AB0B-FE787EF5F173}"/>
              </a:ext>
            </a:extLst>
          </p:cNvPr>
          <p:cNvSpPr/>
          <p:nvPr/>
        </p:nvSpPr>
        <p:spPr>
          <a:xfrm>
            <a:off x="6814268" y="3277070"/>
            <a:ext cx="520810" cy="2622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6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>
                <a:solidFill>
                  <a:srgbClr val="004B9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SRCNN: The Starting Point of Deep SR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E7928-2756-4A6C-B618-760FC3980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80" y="931467"/>
            <a:ext cx="5049371" cy="2817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2BBC51-66CE-427D-8814-1F90BB3E4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771" y="2413695"/>
            <a:ext cx="3658349" cy="35883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DF0218-0E79-45EE-8D27-1175EFFB7114}"/>
              </a:ext>
            </a:extLst>
          </p:cNvPr>
          <p:cNvSpPr/>
          <p:nvPr/>
        </p:nvSpPr>
        <p:spPr>
          <a:xfrm>
            <a:off x="5315771" y="6025324"/>
            <a:ext cx="28809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SC: Sparse-coding-based method</a:t>
            </a:r>
          </a:p>
        </p:txBody>
      </p:sp>
    </p:spTree>
    <p:extLst>
      <p:ext uri="{BB962C8B-B14F-4D97-AF65-F5344CB8AC3E}">
        <p14:creationId xmlns:p14="http://schemas.microsoft.com/office/powerpoint/2010/main" val="1717013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Current Architecture Issues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2915A-E020-4230-827E-77A3D7ECE220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Do deeper networks work better?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1FA46-FD00-41B0-987F-AA691C15D6D1}"/>
              </a:ext>
            </a:extLst>
          </p:cNvPr>
          <p:cNvSpPr/>
          <p:nvPr/>
        </p:nvSpPr>
        <p:spPr>
          <a:xfrm>
            <a:off x="859805" y="1531827"/>
            <a:ext cx="8575933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SRCNN (2014) are shallow network</a:t>
            </a:r>
            <a:endParaRPr lang="en-US" altLang="ko-KR" sz="2200"/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Failed to train deeper models =&gt; </a:t>
            </a:r>
            <a:r>
              <a:rPr lang="en-US" sz="2200">
                <a:solidFill>
                  <a:srgbClr val="FF0000"/>
                </a:solidFill>
              </a:rPr>
              <a:t>How to train deeper network?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50481F-0517-446A-9C72-FFEDDFBDE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0812"/>
            <a:ext cx="4351252" cy="19285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4ED2C9-857C-42BF-A4CD-B38D156A2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79" y="3220812"/>
            <a:ext cx="4340223" cy="19285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A947BA5-3D25-48D1-8567-93B69E791461}"/>
              </a:ext>
            </a:extLst>
          </p:cNvPr>
          <p:cNvSpPr/>
          <p:nvPr/>
        </p:nvSpPr>
        <p:spPr>
          <a:xfrm>
            <a:off x="2074492" y="5263725"/>
            <a:ext cx="56028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/>
              <a:t>Figure. Deeper structure does not always lead to better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2233343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RCAN: Very Deep Network + Residual Learning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52A96-B79B-4A94-BFC6-1287D0BD4476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RCAN (2018): Very deep </a:t>
            </a:r>
            <a:r>
              <a:rPr lang="en-US" sz="2200">
                <a:solidFill>
                  <a:schemeClr val="accent2"/>
                </a:solidFill>
              </a:rPr>
              <a:t>R</a:t>
            </a:r>
            <a:r>
              <a:rPr lang="en-US" sz="2200"/>
              <a:t>esidual </a:t>
            </a:r>
            <a:r>
              <a:rPr lang="en-US" sz="2200">
                <a:solidFill>
                  <a:schemeClr val="accent2"/>
                </a:solidFill>
              </a:rPr>
              <a:t>C</a:t>
            </a:r>
            <a:r>
              <a:rPr lang="en-US" sz="2200"/>
              <a:t>hannel </a:t>
            </a:r>
            <a:r>
              <a:rPr lang="en-US" sz="2200">
                <a:solidFill>
                  <a:schemeClr val="accent2"/>
                </a:solidFill>
              </a:rPr>
              <a:t>A</a:t>
            </a:r>
            <a:r>
              <a:rPr lang="en-US" sz="2200"/>
              <a:t>ttention </a:t>
            </a:r>
            <a:r>
              <a:rPr lang="en-US" sz="2200">
                <a:solidFill>
                  <a:schemeClr val="accent2"/>
                </a:solidFill>
              </a:rPr>
              <a:t>N</a:t>
            </a:r>
            <a:r>
              <a:rPr lang="en-US" sz="2200"/>
              <a:t>etwork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529272-7601-4CA0-815C-11511F4FE65C}"/>
              </a:ext>
            </a:extLst>
          </p:cNvPr>
          <p:cNvSpPr/>
          <p:nvPr/>
        </p:nvSpPr>
        <p:spPr>
          <a:xfrm>
            <a:off x="859806" y="1531827"/>
            <a:ext cx="7718138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Deeper model (400-layer) =&gt; large receptive field</a:t>
            </a:r>
            <a:endParaRPr lang="en-US" altLang="ko-KR" sz="2200"/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Residual learning, Channel Attention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>
                <a:solidFill>
                  <a:schemeClr val="tx1"/>
                </a:solidFill>
              </a:rPr>
              <a:t>L1 Loss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54C3AF-8ACE-46FA-AAE6-9F60B4BD7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89" y="3151975"/>
            <a:ext cx="7169518" cy="27115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6BAC7E-825F-4AA0-9356-D4CBF398EED2}"/>
              </a:ext>
            </a:extLst>
          </p:cNvPr>
          <p:cNvSpPr/>
          <p:nvPr/>
        </p:nvSpPr>
        <p:spPr>
          <a:xfrm>
            <a:off x="321672" y="602228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Zhang, Y., Li, K., Li, K., Wang, L., Zhong, B., &amp; Fu, Y. (2018). Image super-resolution using very deep residual channel attention networks. In Proceedings of the European conference on computer vision (ECCV) (pp. 286-301).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57424-CBD2-4665-BFE2-E9BF25742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382" y="2554272"/>
            <a:ext cx="3173101" cy="613289"/>
          </a:xfrm>
          <a:prstGeom prst="rect">
            <a:avLst/>
          </a:prstGeom>
        </p:spPr>
      </p:pic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D1659026-E7DA-41A6-BB7C-DCAE4043A464}"/>
              </a:ext>
            </a:extLst>
          </p:cNvPr>
          <p:cNvCxnSpPr>
            <a:cxnSpLocks/>
          </p:cNvCxnSpPr>
          <p:nvPr/>
        </p:nvCxnSpPr>
        <p:spPr>
          <a:xfrm flipV="1">
            <a:off x="2438400" y="876300"/>
            <a:ext cx="390525" cy="2762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8F7E820-F79E-4911-8FF6-F011A7745036}"/>
              </a:ext>
            </a:extLst>
          </p:cNvPr>
          <p:cNvSpPr/>
          <p:nvPr/>
        </p:nvSpPr>
        <p:spPr>
          <a:xfrm>
            <a:off x="2898693" y="690687"/>
            <a:ext cx="10406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70C0"/>
                </a:solidFill>
              </a:rPr>
              <a:t>ResNet</a:t>
            </a:r>
          </a:p>
        </p:txBody>
      </p:sp>
    </p:spTree>
    <p:extLst>
      <p:ext uri="{BB962C8B-B14F-4D97-AF65-F5344CB8AC3E}">
        <p14:creationId xmlns:p14="http://schemas.microsoft.com/office/powerpoint/2010/main" val="275560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RCAN: Very Deep Network + Residual Learning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71810B-8DEE-4586-B495-6A6A5E461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27" y="846793"/>
            <a:ext cx="6688279" cy="26553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A39F35-D1E3-4303-A829-DB0B19625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452" y="3593297"/>
            <a:ext cx="5294451" cy="281530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B42969-A894-480A-98AF-4075BA4506FF}"/>
              </a:ext>
            </a:extLst>
          </p:cNvPr>
          <p:cNvSpPr/>
          <p:nvPr/>
        </p:nvSpPr>
        <p:spPr>
          <a:xfrm>
            <a:off x="2091192" y="1727231"/>
            <a:ext cx="5287617" cy="2622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C5DFFB-3D2A-4E0F-A7AE-0184569AC7A7}"/>
              </a:ext>
            </a:extLst>
          </p:cNvPr>
          <p:cNvSpPr/>
          <p:nvPr/>
        </p:nvSpPr>
        <p:spPr>
          <a:xfrm>
            <a:off x="2091192" y="3263735"/>
            <a:ext cx="5287617" cy="2622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33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RCAN: Very Deep Network + Residual Learning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C1753-9A59-42B8-A493-FC971BFD65B9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Key takeaways from RCAN 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5D7BC6-57AD-4AC1-9ED5-148E5DCC3484}"/>
              </a:ext>
            </a:extLst>
          </p:cNvPr>
          <p:cNvSpPr/>
          <p:nvPr/>
        </p:nvSpPr>
        <p:spPr>
          <a:xfrm>
            <a:off x="859806" y="1531827"/>
            <a:ext cx="7718138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Deeper model could lead to better performance</a:t>
            </a:r>
            <a:endParaRPr lang="en-US" altLang="ko-KR" sz="2200"/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Channel Attention could improve the performance overall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>
                <a:solidFill>
                  <a:schemeClr val="tx1"/>
                </a:solidFill>
              </a:rPr>
              <a:t>L1 Loss is better than MSE Loss in SR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95716-F134-4166-AE44-3A979C14EA79}"/>
              </a:ext>
            </a:extLst>
          </p:cNvPr>
          <p:cNvSpPr txBox="1"/>
          <p:nvPr/>
        </p:nvSpPr>
        <p:spPr>
          <a:xfrm>
            <a:off x="611232" y="3160304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Limitation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09B279-F13E-4449-890F-0868CE3F5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91" y="3967726"/>
            <a:ext cx="7772193" cy="748277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8643F9-57B8-49F4-85A8-2CB67D0654A9}"/>
              </a:ext>
            </a:extLst>
          </p:cNvPr>
          <p:cNvSpPr/>
          <p:nvPr/>
        </p:nvSpPr>
        <p:spPr>
          <a:xfrm>
            <a:off x="2481942" y="4127210"/>
            <a:ext cx="539932" cy="6219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40BFA0-1905-4C9B-9E74-04BC8A188A3B}"/>
              </a:ext>
            </a:extLst>
          </p:cNvPr>
          <p:cNvSpPr/>
          <p:nvPr/>
        </p:nvSpPr>
        <p:spPr>
          <a:xfrm>
            <a:off x="4849404" y="4127210"/>
            <a:ext cx="539932" cy="6219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4BA40C-037E-4179-8513-CB1D73EA6A60}"/>
              </a:ext>
            </a:extLst>
          </p:cNvPr>
          <p:cNvSpPr/>
          <p:nvPr/>
        </p:nvSpPr>
        <p:spPr>
          <a:xfrm>
            <a:off x="859806" y="4875864"/>
            <a:ext cx="7718138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>
                <a:solidFill>
                  <a:srgbClr val="FF0000"/>
                </a:solidFill>
              </a:rPr>
              <a:t>Require a breakthrough in the model architecture design</a:t>
            </a:r>
          </a:p>
        </p:txBody>
      </p:sp>
    </p:spTree>
    <p:extLst>
      <p:ext uri="{BB962C8B-B14F-4D97-AF65-F5344CB8AC3E}">
        <p14:creationId xmlns:p14="http://schemas.microsoft.com/office/powerpoint/2010/main" val="3142836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Transformer Architecture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C1753-9A59-42B8-A493-FC971BFD65B9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Why Transformers?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5D7BC6-57AD-4AC1-9ED5-148E5DCC3484}"/>
              </a:ext>
            </a:extLst>
          </p:cNvPr>
          <p:cNvSpPr/>
          <p:nvPr/>
        </p:nvSpPr>
        <p:spPr>
          <a:xfrm>
            <a:off x="859806" y="1531827"/>
            <a:ext cx="7718138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Global receptive field</a:t>
            </a:r>
            <a:endParaRPr lang="en-US" altLang="ko-KR" sz="2200"/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Long-range dependencies modeling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>
                <a:solidFill>
                  <a:schemeClr val="tx1"/>
                </a:solidFill>
              </a:rPr>
              <a:t>SOTA performance in most of the tasks in CV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5F9B3-BCC2-418C-92D1-F6AF140E4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702" y="3280823"/>
            <a:ext cx="4805562" cy="20270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AC4C1A-B76C-4BDE-A298-A69E4389C3A2}"/>
              </a:ext>
            </a:extLst>
          </p:cNvPr>
          <p:cNvSpPr/>
          <p:nvPr/>
        </p:nvSpPr>
        <p:spPr>
          <a:xfrm>
            <a:off x="3835460" y="5280006"/>
            <a:ext cx="1766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/>
              <a:t>CNN-based method</a:t>
            </a:r>
          </a:p>
          <a:p>
            <a:r>
              <a:rPr lang="en-US" i="1"/>
              <a:t>            (Local)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B5FAF5-655C-41A2-B81F-3F867A1183A3}"/>
              </a:ext>
            </a:extLst>
          </p:cNvPr>
          <p:cNvSpPr/>
          <p:nvPr/>
        </p:nvSpPr>
        <p:spPr>
          <a:xfrm>
            <a:off x="6296625" y="5326173"/>
            <a:ext cx="24000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/>
              <a:t>Transformer-based method </a:t>
            </a:r>
          </a:p>
          <a:p>
            <a:r>
              <a:rPr lang="en-US" i="1"/>
              <a:t>                 (Global)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33D55-4D8F-46B2-AF8A-D065B543C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15" y="3105271"/>
            <a:ext cx="1957417" cy="237815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98871C5-5B63-4CF5-8754-9DE454BE5146}"/>
              </a:ext>
            </a:extLst>
          </p:cNvPr>
          <p:cNvSpPr/>
          <p:nvPr/>
        </p:nvSpPr>
        <p:spPr>
          <a:xfrm>
            <a:off x="859806" y="5587783"/>
            <a:ext cx="17844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/>
              <a:t>General transformer</a:t>
            </a:r>
          </a:p>
          <a:p>
            <a:r>
              <a:rPr lang="en-US" i="1"/>
              <a:t>         structure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746B87-A7EE-4789-B931-A377D42FF9C0}"/>
              </a:ext>
            </a:extLst>
          </p:cNvPr>
          <p:cNvCxnSpPr/>
          <p:nvPr/>
        </p:nvCxnSpPr>
        <p:spPr>
          <a:xfrm>
            <a:off x="365760" y="315666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E38CC0-10FB-4ABC-A56B-6C7A633D9344}"/>
              </a:ext>
            </a:extLst>
          </p:cNvPr>
          <p:cNvCxnSpPr>
            <a:cxnSpLocks/>
          </p:cNvCxnSpPr>
          <p:nvPr/>
        </p:nvCxnSpPr>
        <p:spPr>
          <a:xfrm flipH="1">
            <a:off x="3108960" y="3208351"/>
            <a:ext cx="39758" cy="2802835"/>
          </a:xfrm>
          <a:prstGeom prst="line">
            <a:avLst/>
          </a:prstGeom>
          <a:ln w="222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548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Transformer Architecture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C1753-9A59-42B8-A493-FC971BFD65B9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But…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5D7BC6-57AD-4AC1-9ED5-148E5DCC3484}"/>
              </a:ext>
            </a:extLst>
          </p:cNvPr>
          <p:cNvSpPr/>
          <p:nvPr/>
        </p:nvSpPr>
        <p:spPr>
          <a:xfrm>
            <a:off x="859806" y="1531827"/>
            <a:ext cx="7718138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What about Complexity?</a:t>
            </a:r>
            <a:endParaRPr lang="en-US" altLang="ko-KR" sz="2200"/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>
                <a:solidFill>
                  <a:srgbClr val="FF0000"/>
                </a:solidFill>
              </a:rPr>
              <a:t>Quadratic</a:t>
            </a:r>
            <a:r>
              <a:rPr lang="en-US" sz="2200"/>
              <a:t> Complexity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B5FAF5-655C-41A2-B81F-3F867A1183A3}"/>
              </a:ext>
            </a:extLst>
          </p:cNvPr>
          <p:cNvSpPr/>
          <p:nvPr/>
        </p:nvSpPr>
        <p:spPr>
          <a:xfrm>
            <a:off x="5267948" y="5705752"/>
            <a:ext cx="18870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/>
              <a:t>FLOPs v.s. Input size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C3EC2-2450-4ABE-AC31-BFDF38BBB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24" y="2577050"/>
            <a:ext cx="6997339" cy="312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05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Transformer Architecture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C1753-9A59-42B8-A493-FC971BFD65B9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What could be a good solution?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5D7BC6-57AD-4AC1-9ED5-148E5DCC3484}"/>
              </a:ext>
            </a:extLst>
          </p:cNvPr>
          <p:cNvSpPr/>
          <p:nvPr/>
        </p:nvSpPr>
        <p:spPr>
          <a:xfrm>
            <a:off x="859806" y="1531827"/>
            <a:ext cx="7718138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200"/>
              <a:t>Local Transformer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200"/>
              <a:t>E.g., Swin Transformer (2021)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8E5C3E-3BF2-407F-8649-FD4974AB0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005" y="2730343"/>
            <a:ext cx="3812494" cy="31332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98E54D1-5CF3-4E34-A658-65C17C643AA6}"/>
              </a:ext>
            </a:extLst>
          </p:cNvPr>
          <p:cNvSpPr/>
          <p:nvPr/>
        </p:nvSpPr>
        <p:spPr>
          <a:xfrm>
            <a:off x="956930" y="3482423"/>
            <a:ext cx="16385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/>
              <a:t>Window Attention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5E9495-E2A9-43EC-852C-259D341B3420}"/>
              </a:ext>
            </a:extLst>
          </p:cNvPr>
          <p:cNvSpPr/>
          <p:nvPr/>
        </p:nvSpPr>
        <p:spPr>
          <a:xfrm>
            <a:off x="6233110" y="4880149"/>
            <a:ext cx="21868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/>
              <a:t>Shifted Window Attention</a:t>
            </a:r>
          </a:p>
        </p:txBody>
      </p:sp>
    </p:spTree>
    <p:extLst>
      <p:ext uri="{BB962C8B-B14F-4D97-AF65-F5344CB8AC3E}">
        <p14:creationId xmlns:p14="http://schemas.microsoft.com/office/powerpoint/2010/main" val="429996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SwinIR: First Transformer-based Method for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A084C6-1148-4504-919C-D29B2F61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00" y="2638496"/>
            <a:ext cx="7772799" cy="31116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AECA0-2C23-4F28-9FB0-7459344447FF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SwinIR (2021): Image Restoration using Swin Transformer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1F0E9-DF71-43FD-A5DA-5EEC05416D19}"/>
              </a:ext>
            </a:extLst>
          </p:cNvPr>
          <p:cNvSpPr/>
          <p:nvPr/>
        </p:nvSpPr>
        <p:spPr>
          <a:xfrm>
            <a:off x="859806" y="1531827"/>
            <a:ext cx="8436594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Outperforms CNN-based methods by up to </a:t>
            </a:r>
            <a:r>
              <a:rPr lang="en-US" sz="2200">
                <a:solidFill>
                  <a:srgbClr val="FF0000"/>
                </a:solidFill>
              </a:rPr>
              <a:t>0.14∼0.45dB</a:t>
            </a:r>
            <a:endParaRPr lang="en-US" altLang="ko-KR" sz="2200">
              <a:solidFill>
                <a:srgbClr val="FF0000"/>
              </a:solidFill>
            </a:endParaRP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Total #parameters can be reduced by up to </a:t>
            </a:r>
            <a:r>
              <a:rPr lang="en-US" sz="2200">
                <a:solidFill>
                  <a:srgbClr val="FF0000"/>
                </a:solidFill>
              </a:rPr>
              <a:t>67%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ED7ECA-F733-492A-B490-FFB15D7E7969}"/>
              </a:ext>
            </a:extLst>
          </p:cNvPr>
          <p:cNvSpPr/>
          <p:nvPr/>
        </p:nvSpPr>
        <p:spPr>
          <a:xfrm>
            <a:off x="321672" y="602228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Liang, J., Cao, J., Sun, G., Zhang, K., Van Gool, L., &amp; Timofte, R. (2021). Swinir: Image restoration using swin transformer. In Proceedings of the IEEE/CVF international conference on computer vision (pp. 1833-1844).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D06EADC-72F6-4203-B23D-D65DA4E607EC}"/>
              </a:ext>
            </a:extLst>
          </p:cNvPr>
          <p:cNvCxnSpPr>
            <a:cxnSpLocks/>
          </p:cNvCxnSpPr>
          <p:nvPr/>
        </p:nvCxnSpPr>
        <p:spPr>
          <a:xfrm flipV="1">
            <a:off x="2438400" y="876300"/>
            <a:ext cx="390525" cy="27622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E57C064-12D4-4267-B971-28D6B153B96F}"/>
              </a:ext>
            </a:extLst>
          </p:cNvPr>
          <p:cNvSpPr/>
          <p:nvPr/>
        </p:nvSpPr>
        <p:spPr>
          <a:xfrm>
            <a:off x="2898693" y="690687"/>
            <a:ext cx="22076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70C0"/>
                </a:solidFill>
              </a:rPr>
              <a:t>Swin Transformer</a:t>
            </a:r>
          </a:p>
        </p:txBody>
      </p:sp>
    </p:spTree>
    <p:extLst>
      <p:ext uri="{BB962C8B-B14F-4D97-AF65-F5344CB8AC3E}">
        <p14:creationId xmlns:p14="http://schemas.microsoft.com/office/powerpoint/2010/main" val="667847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SwinIR: First Transformer-based Method for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ED7ECA-F733-492A-B490-FFB15D7E7969}"/>
              </a:ext>
            </a:extLst>
          </p:cNvPr>
          <p:cNvSpPr/>
          <p:nvPr/>
        </p:nvSpPr>
        <p:spPr>
          <a:xfrm>
            <a:off x="321672" y="602228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Liang, J., Cao, J., Sun, G., Zhang, K., Van Gool, L., &amp; Timofte, R. (2021). Swinir: Image restoration using swin transformer. In Proceedings of the IEEE/CVF international conference on computer vision (pp. 1833-1844).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5BA755-E762-49E3-81DE-4B703C561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931" y="1078401"/>
            <a:ext cx="6839947" cy="451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19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SwinIR: First Transformer-based Method for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C87CA7-0216-41D7-BE5F-5391B33F4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16" y="2864826"/>
            <a:ext cx="7824651" cy="34915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BDBF4F-4371-4430-A1E0-1006C8F69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983" y="868729"/>
            <a:ext cx="3298916" cy="199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29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4ED783-699D-4D47-A99A-589FDA0A7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161" y="1127665"/>
            <a:ext cx="5475973" cy="2202468"/>
          </a:xfrm>
          <a:prstGeom prst="rect">
            <a:avLst/>
          </a:prstGeom>
        </p:spPr>
      </p:pic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SwinIR: First Transformer-based Method for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C803F-BEBF-4783-9989-8DC323EE085C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Limitation</a:t>
            </a:r>
          </a:p>
        </p:txBody>
      </p:sp>
      <p:pic>
        <p:nvPicPr>
          <p:cNvPr id="1030" name="Picture 6" descr="https://lh7-rt.googleusercontent.com/slidesz/AGV_vUd7cHwrbtJ9PRYZ8zFf3HJDGwlAZM-OZ4nBXR4ga4tMMyLdWSsafDutsR77kk8W_pN04Ow-9eJMs9bq3B7Oj1VNu-QgDYO-fl4OOJYlGl9DDl8bPtyGzLIOF1mpXCTqSF3Y5h3G6SIY1UzI61q4obE=s2048?key=hwRWObh3XCIQC2PH9AMUX7OG">
            <a:extLst>
              <a:ext uri="{FF2B5EF4-FFF2-40B4-BE49-F238E27FC236}">
                <a16:creationId xmlns:a16="http://schemas.microsoft.com/office/drawing/2014/main" id="{9305EC6D-8264-4FBA-82A7-2B1897ADA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89" y="3429000"/>
            <a:ext cx="2314848" cy="231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https://lh7-rt.googleusercontent.com/slidesz/AGV_vUcqGy2kG9WQAglGgUOjnfnemyRhvgKucxR2Dj8wWMABIMELUhL8de5ToE_vBe40VY6ssI5O72NcUJozIn3RGZsnAAl5804pa_KoUbte0jCfJLJMb9DOS2-DvNC9U7agG9JJoECTVpuHaQ4NiWQNEDI=s2048?key=hwRWObh3XCIQC2PH9AMUX7OG">
            <a:extLst>
              <a:ext uri="{FF2B5EF4-FFF2-40B4-BE49-F238E27FC236}">
                <a16:creationId xmlns:a16="http://schemas.microsoft.com/office/drawing/2014/main" id="{D28C2DCA-50DB-4E55-8E67-7BCD3EF37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3429000"/>
            <a:ext cx="2322220" cy="231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lh7-rt.googleusercontent.com/slidesz/AGV_vUdFhTLnhnioYzfDoQI-90AJAYulQMa-BNLsFegXW0yLYlfA32JBjo6R7jsVWqOxM8tBq0DFaBPTovswtsWpNu-BishahJ72sZM5WXligotg2p4Q5u_FzhTaldSPuowl346FTuoft6LMIri_y12bFDg=s2048?key=hwRWObh3XCIQC2PH9AMUX7OG">
            <a:extLst>
              <a:ext uri="{FF2B5EF4-FFF2-40B4-BE49-F238E27FC236}">
                <a16:creationId xmlns:a16="http://schemas.microsoft.com/office/drawing/2014/main" id="{710B4C09-9335-4F88-83BD-1B2820427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709" y="3429000"/>
            <a:ext cx="2325977" cy="231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00BC08-7E82-41BD-AFEB-546026627B57}"/>
              </a:ext>
            </a:extLst>
          </p:cNvPr>
          <p:cNvSpPr/>
          <p:nvPr/>
        </p:nvSpPr>
        <p:spPr>
          <a:xfrm>
            <a:off x="1350644" y="5790941"/>
            <a:ext cx="4441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HR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189B85-95E8-4A40-8F27-8A7CBECB0777}"/>
              </a:ext>
            </a:extLst>
          </p:cNvPr>
          <p:cNvSpPr/>
          <p:nvPr/>
        </p:nvSpPr>
        <p:spPr>
          <a:xfrm>
            <a:off x="3941622" y="5790941"/>
            <a:ext cx="9342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RCAN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BF4B5E-C59E-443C-A7A0-42C0F798A41E}"/>
              </a:ext>
            </a:extLst>
          </p:cNvPr>
          <p:cNvSpPr/>
          <p:nvPr/>
        </p:nvSpPr>
        <p:spPr>
          <a:xfrm>
            <a:off x="6505790" y="5790941"/>
            <a:ext cx="7858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SwinIR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5A902D-C56A-4BCC-BA84-A3135C06B0DE}"/>
              </a:ext>
            </a:extLst>
          </p:cNvPr>
          <p:cNvCxnSpPr>
            <a:cxnSpLocks/>
          </p:cNvCxnSpPr>
          <p:nvPr/>
        </p:nvCxnSpPr>
        <p:spPr>
          <a:xfrm flipV="1">
            <a:off x="452610" y="3289989"/>
            <a:ext cx="7560625" cy="20390"/>
          </a:xfrm>
          <a:prstGeom prst="line">
            <a:avLst/>
          </a:prstGeom>
          <a:ln w="222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07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CPAT: Channel-Partitioned Attention Transformer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D00DD-EE0F-4634-9428-089FB3938BB0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CPAT (2024): </a:t>
            </a:r>
            <a:r>
              <a:rPr lang="en-US" sz="2200">
                <a:solidFill>
                  <a:schemeClr val="accent2"/>
                </a:solidFill>
              </a:rPr>
              <a:t>C</a:t>
            </a:r>
            <a:r>
              <a:rPr lang="en-US" sz="2200"/>
              <a:t>hannel-</a:t>
            </a:r>
            <a:r>
              <a:rPr lang="en-US" sz="2200">
                <a:solidFill>
                  <a:schemeClr val="accent2"/>
                </a:solidFill>
              </a:rPr>
              <a:t>P</a:t>
            </a:r>
            <a:r>
              <a:rPr lang="en-US" sz="2200"/>
              <a:t>artitioned </a:t>
            </a:r>
            <a:r>
              <a:rPr lang="en-US" sz="2200">
                <a:solidFill>
                  <a:schemeClr val="accent2"/>
                </a:solidFill>
              </a:rPr>
              <a:t>A</a:t>
            </a:r>
            <a:r>
              <a:rPr lang="en-US" sz="2200"/>
              <a:t>ttention </a:t>
            </a:r>
            <a:r>
              <a:rPr lang="en-US" sz="2200">
                <a:solidFill>
                  <a:schemeClr val="accent2"/>
                </a:solidFill>
              </a:rPr>
              <a:t>T</a:t>
            </a:r>
            <a:r>
              <a:rPr lang="en-US" sz="2200"/>
              <a:t>ransformer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6CD89-1F8B-4FBD-B14F-A3EB60ABB0B2}"/>
              </a:ext>
            </a:extLst>
          </p:cNvPr>
          <p:cNvSpPr/>
          <p:nvPr/>
        </p:nvSpPr>
        <p:spPr>
          <a:xfrm>
            <a:off x="1120936" y="3874162"/>
            <a:ext cx="8436594" cy="170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1800"/>
              <a:t>RWAG: Residual Window Attention Group</a:t>
            </a:r>
            <a:endParaRPr lang="en-US" altLang="ko-KR" sz="1800">
              <a:solidFill>
                <a:srgbClr val="FF0000"/>
              </a:solidFill>
            </a:endParaRP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1800"/>
              <a:t>SFIM: Spatial-Frequency Interaction Module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1800">
                <a:solidFill>
                  <a:schemeClr val="tx1"/>
                </a:solidFill>
              </a:rPr>
              <a:t>CPWin-SA: Channel-Partitioned Window Self-Attention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1800">
                <a:solidFill>
                  <a:schemeClr val="tx1"/>
                </a:solidFill>
              </a:rPr>
              <a:t>OCAM: Overlapping Cross-Attention Module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090E7D-9F44-4ACE-BCE7-090A7B30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489" y="1819912"/>
            <a:ext cx="6723021" cy="18356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79AB1A-EE72-4E1E-AA6F-B1DA6B3F0975}"/>
              </a:ext>
            </a:extLst>
          </p:cNvPr>
          <p:cNvSpPr/>
          <p:nvPr/>
        </p:nvSpPr>
        <p:spPr>
          <a:xfrm>
            <a:off x="321672" y="6022280"/>
            <a:ext cx="83905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Tran, D. P., Hung, D. D., &amp; Kim, D. (2024). Channel-Partitioned Windowed Attention And Frequency Learning for Single Image Super-Resolution. The 35th British Machine Vision Conference (BMVC 2024).</a:t>
            </a:r>
          </a:p>
          <a:p>
            <a:pPr lvl="0">
              <a:defRPr/>
            </a:pPr>
            <a:endParaRPr lang="en-US" sz="1000" i="1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583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CPAT: Channel-Partitioned Attention Transformer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BD2EF2-6112-4F54-B07E-4A5B7BA2B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695985" y="1125889"/>
            <a:ext cx="1688797" cy="29932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053456-4DC5-4D99-BF98-879D75A5E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32" y="3974341"/>
            <a:ext cx="7712765" cy="18892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0F02CB-06CB-44FD-92E3-84BD44273B10}"/>
              </a:ext>
            </a:extLst>
          </p:cNvPr>
          <p:cNvSpPr/>
          <p:nvPr/>
        </p:nvSpPr>
        <p:spPr>
          <a:xfrm>
            <a:off x="3385902" y="3466897"/>
            <a:ext cx="24352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Figure 1: CPWin-SA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8A8FD-D577-4F92-A304-4465063A9095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ChannelPartitioned Window Self-Attention structure</a:t>
            </a:r>
          </a:p>
        </p:txBody>
      </p:sp>
    </p:spTree>
    <p:extLst>
      <p:ext uri="{BB962C8B-B14F-4D97-AF65-F5344CB8AC3E}">
        <p14:creationId xmlns:p14="http://schemas.microsoft.com/office/powerpoint/2010/main" val="1989377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CPAT: Channel-Partitioned Attention Transformer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AC9C9C-4C8F-4482-8505-D84F7079E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646918" y="648032"/>
            <a:ext cx="1276895" cy="29440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412C70-6428-4D32-B3D6-3401570EC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707" y="2919799"/>
            <a:ext cx="4095317" cy="34820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5FCE48-D524-43F7-B9C6-770CB09987F4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Overlapping Cross-Attention Module structure</a:t>
            </a:r>
          </a:p>
        </p:txBody>
      </p:sp>
    </p:spTree>
    <p:extLst>
      <p:ext uri="{BB962C8B-B14F-4D97-AF65-F5344CB8AC3E}">
        <p14:creationId xmlns:p14="http://schemas.microsoft.com/office/powerpoint/2010/main" val="3583482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CPAT: Channel-Partitioned Attention Transformer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A1E904-9143-4A7C-91BE-D641D027B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414" y="989936"/>
            <a:ext cx="6273741" cy="514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81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CPAT: Channel-Partitioned Attention Transformer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D8D18-97CD-4359-B255-E3343498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43" y="1912311"/>
            <a:ext cx="6949440" cy="303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14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SAT: Selective Aggregation Transformer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E5A8B-5283-46D1-9E55-BCDF99B233F7}"/>
              </a:ext>
            </a:extLst>
          </p:cNvPr>
          <p:cNvSpPr/>
          <p:nvPr/>
        </p:nvSpPr>
        <p:spPr>
          <a:xfrm>
            <a:off x="321672" y="602228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Tran, D., Do, T., Wazir, S., Kim, S., Kim, S., &amp; Kim, D. (2026). SAT: Selective Aggregation Transformer for Image Super-Resolution. In Proceedings of the IEEE/CVF Conference on Computer Vision and Pattern Recognition (CVPR 2026) Findings (pp. 4982-4992).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E7E2C0-5FD9-49DC-A543-1163A7A48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97" y="936581"/>
            <a:ext cx="7949631" cy="19526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EA1BA5-49E4-47E5-A8C2-5EC4C84E1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72" y="3075719"/>
            <a:ext cx="8412046" cy="253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72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SAT: Selective Aggregation Transformer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E5A8B-5283-46D1-9E55-BCDF99B233F7}"/>
              </a:ext>
            </a:extLst>
          </p:cNvPr>
          <p:cNvSpPr/>
          <p:nvPr/>
        </p:nvSpPr>
        <p:spPr>
          <a:xfrm>
            <a:off x="321672" y="602228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Tran, D., Do, T., Wazir, S., Kim, S., Kim, S., &amp; Kim, D. (2026). SAT: Selective Aggregation Transformer for Image Super-Resolution. In Proceedings of the IEEE/CVF Conference on Computer Vision and Pattern Recognition (CVPR 2026) Findings (pp. 4982-4992).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8A34D-258B-4244-AEBA-532C79633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51" y="1083670"/>
            <a:ext cx="8186498" cy="456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225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Key Takeaways from Non-generative Approach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D731320-2CA3-48BD-9956-082EAAF0D416}"/>
              </a:ext>
            </a:extLst>
          </p:cNvPr>
          <p:cNvSpPr/>
          <p:nvPr/>
        </p:nvSpPr>
        <p:spPr>
          <a:xfrm>
            <a:off x="1234440" y="15189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A318700-CEBE-4E00-A5A9-4658FBCEE113}"/>
              </a:ext>
            </a:extLst>
          </p:cNvPr>
          <p:cNvSpPr/>
          <p:nvPr/>
        </p:nvSpPr>
        <p:spPr>
          <a:xfrm>
            <a:off x="1307592" y="1592072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E627571-6EF3-4D68-A29A-72E796AE6E18}"/>
              </a:ext>
            </a:extLst>
          </p:cNvPr>
          <p:cNvSpPr/>
          <p:nvPr/>
        </p:nvSpPr>
        <p:spPr>
          <a:xfrm>
            <a:off x="777240" y="2204720"/>
            <a:ext cx="36068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fidelity to paired 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Stable and 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outputs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Reliable PSNR/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SSIM improvement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Often efficient enough for deployment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14EEC39-2C33-4349-B370-CBC665B1D35B}"/>
              </a:ext>
            </a:extLst>
          </p:cNvPr>
          <p:cNvSpPr/>
          <p:nvPr/>
        </p:nvSpPr>
        <p:spPr>
          <a:xfrm>
            <a:off x="5552440" y="155448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FF1F1"/>
          </a:solidFill>
          <a:ln w="15240">
            <a:solidFill>
              <a:srgbClr val="D32F2F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B16CDBF-8C1A-4B06-A6F4-6DE0BA0484DB}"/>
              </a:ext>
            </a:extLst>
          </p:cNvPr>
          <p:cNvSpPr/>
          <p:nvPr/>
        </p:nvSpPr>
        <p:spPr>
          <a:xfrm>
            <a:off x="5635752" y="1627632"/>
            <a:ext cx="19568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B75E468-4436-40C8-99E4-27525AA4CFBC}"/>
              </a:ext>
            </a:extLst>
          </p:cNvPr>
          <p:cNvSpPr/>
          <p:nvPr/>
        </p:nvSpPr>
        <p:spPr>
          <a:xfrm>
            <a:off x="4831080" y="2204720"/>
            <a:ext cx="45161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Tends to produce 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textures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Struggles with unknown 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degradations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Cannot recover truly </a:t>
            </a:r>
            <a:r>
              <a:rPr lang="en-US" sz="16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detail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Metrics may disagree with human preference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8F5E26C-409B-43E4-8174-6C3DEDA6EE18}"/>
              </a:ext>
            </a:extLst>
          </p:cNvPr>
          <p:cNvSpPr/>
          <p:nvPr/>
        </p:nvSpPr>
        <p:spPr>
          <a:xfrm>
            <a:off x="1143000" y="4450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gap motivates generative super-resolution.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461250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00f9067ec7_4_107"/>
          <p:cNvSpPr txBox="1">
            <a:spLocks noGrp="1"/>
          </p:cNvSpPr>
          <p:nvPr>
            <p:ph type="title"/>
          </p:nvPr>
        </p:nvSpPr>
        <p:spPr>
          <a:xfrm>
            <a:off x="623900" y="2220678"/>
            <a:ext cx="7886700" cy="73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ct val="25000"/>
              <a:buFont typeface="Calibri"/>
              <a:buNone/>
              <a:defRPr/>
            </a:pPr>
            <a:r>
              <a:rPr lang="en-US" sz="3600"/>
              <a:t>Generative Model for Super-Resolution</a:t>
            </a:r>
          </a:p>
        </p:txBody>
      </p:sp>
      <p:sp>
        <p:nvSpPr>
          <p:cNvPr id="1025" name="Google Shape;1025;g300f9067ec7_4_10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37</a:t>
            </a:fld>
            <a:endParaRPr lang="en-US"/>
          </a:p>
        </p:txBody>
      </p:sp>
      <p:sp>
        <p:nvSpPr>
          <p:cNvPr id="1026" name="Google Shape;1026;g300f9067ec7_4_10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CS632_2026_Fall Embedded Operating Systems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Overview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FCE48-D524-43F7-B9C6-770CB09987F4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From Discriminative models to Generative Priors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B1F0E5-D0F9-4574-B961-659352E1BC8C}"/>
              </a:ext>
            </a:extLst>
          </p:cNvPr>
          <p:cNvSpPr txBox="1"/>
          <p:nvPr/>
        </p:nvSpPr>
        <p:spPr>
          <a:xfrm>
            <a:off x="611232" y="1531827"/>
            <a:ext cx="8390528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From “predict the average HR image” to “sample a plausible HR image”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FBE9150-7D74-4540-A920-76A7A8260CBE}"/>
              </a:ext>
            </a:extLst>
          </p:cNvPr>
          <p:cNvSpPr/>
          <p:nvPr/>
        </p:nvSpPr>
        <p:spPr>
          <a:xfrm>
            <a:off x="642082" y="2908300"/>
            <a:ext cx="2377440" cy="1143000"/>
          </a:xfrm>
          <a:prstGeom prst="roundRect">
            <a:avLst>
              <a:gd name="adj" fmla="val 4800"/>
            </a:avLst>
          </a:prstGeom>
          <a:solidFill>
            <a:srgbClr val="FFF4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4A0C2D3-712A-4C74-BD70-B62D04030916}"/>
              </a:ext>
            </a:extLst>
          </p:cNvPr>
          <p:cNvSpPr/>
          <p:nvPr/>
        </p:nvSpPr>
        <p:spPr>
          <a:xfrm>
            <a:off x="715234" y="2981452"/>
            <a:ext cx="22311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prior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texture, adversarial realism</a:t>
            </a:r>
            <a:endParaRPr lang="en-US" sz="15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9A1AF30-0EAA-44FE-923C-61AE108456EA}"/>
              </a:ext>
            </a:extLst>
          </p:cNvPr>
          <p:cNvSpPr/>
          <p:nvPr/>
        </p:nvSpPr>
        <p:spPr>
          <a:xfrm>
            <a:off x="3471642" y="2908300"/>
            <a:ext cx="2377440" cy="1143000"/>
          </a:xfrm>
          <a:prstGeom prst="roundRect">
            <a:avLst>
              <a:gd name="adj" fmla="val 4800"/>
            </a:avLst>
          </a:prstGeom>
          <a:solidFill>
            <a:srgbClr val="F1EDFF"/>
          </a:solidFill>
          <a:ln w="15240">
            <a:solidFill>
              <a:srgbClr val="6A4C93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268A62A-ED4D-460F-B493-D6DD73927C5E}"/>
              </a:ext>
            </a:extLst>
          </p:cNvPr>
          <p:cNvSpPr/>
          <p:nvPr/>
        </p:nvSpPr>
        <p:spPr>
          <a:xfrm>
            <a:off x="3544794" y="2981452"/>
            <a:ext cx="22311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prior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</a:t>
            </a:r>
            <a:r>
              <a:rPr lang="en-US" sz="150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diversity</a:t>
            </a:r>
            <a:endParaRPr lang="en-US" sz="15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E272969-BBAF-41EF-9C23-C4D11C787D16}"/>
              </a:ext>
            </a:extLst>
          </p:cNvPr>
          <p:cNvSpPr/>
          <p:nvPr/>
        </p:nvSpPr>
        <p:spPr>
          <a:xfrm>
            <a:off x="6301202" y="2908300"/>
            <a:ext cx="237744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5240">
            <a:solidFill>
              <a:srgbClr val="004B98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FF24A4F-3A72-4E51-A87D-0ADD25C0580D}"/>
              </a:ext>
            </a:extLst>
          </p:cNvPr>
          <p:cNvSpPr/>
          <p:nvPr/>
        </p:nvSpPr>
        <p:spPr>
          <a:xfrm>
            <a:off x="6374354" y="2981452"/>
            <a:ext cx="223113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prior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pretrained text-to-image models</a:t>
            </a: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429888-ABEC-490F-8D8D-7AEE0C64E9AA}"/>
              </a:ext>
            </a:extLst>
          </p:cNvPr>
          <p:cNvSpPr txBox="1"/>
          <p:nvPr/>
        </p:nvSpPr>
        <p:spPr>
          <a:xfrm>
            <a:off x="715234" y="4455748"/>
            <a:ext cx="8390528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>
                <a:solidFill>
                  <a:srgbClr val="C00000"/>
                </a:solidFill>
              </a:rPr>
              <a:t>Core risk: Generated detail can be realistic but not necessarily true, hallucination risk.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D4666D-F114-41D8-ABC8-F1CF49101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24" y="262585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90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Why Do We Need Generative SR?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FCE48-D524-43F7-B9C6-770CB09987F4}"/>
              </a:ext>
            </a:extLst>
          </p:cNvPr>
          <p:cNvSpPr txBox="1"/>
          <p:nvPr/>
        </p:nvSpPr>
        <p:spPr>
          <a:xfrm>
            <a:off x="611232" y="994436"/>
            <a:ext cx="8390528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Many real-world applications require Perceptual quality instead of Distortion quality.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09CBE8-C0B8-4489-8617-150CEDAC0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566" y="1991711"/>
            <a:ext cx="6102867" cy="405698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EBF500-1E81-4163-A54F-8EFC425A10CB}"/>
              </a:ext>
            </a:extLst>
          </p:cNvPr>
          <p:cNvSpPr/>
          <p:nvPr/>
        </p:nvSpPr>
        <p:spPr>
          <a:xfrm>
            <a:off x="321672" y="602228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Blau, Y., &amp; Michaeli, T. (2018). The perception-distortion tradeoff. In Proceedings of the IEEE conference on computer vision and pattern recognition (pp. 6228-6237).</a:t>
            </a:r>
          </a:p>
        </p:txBody>
      </p:sp>
    </p:spTree>
    <p:extLst>
      <p:ext uri="{BB962C8B-B14F-4D97-AF65-F5344CB8AC3E}">
        <p14:creationId xmlns:p14="http://schemas.microsoft.com/office/powerpoint/2010/main" val="28347740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GAN-based Super-Resolution: SRGAN → ESRGAN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FCE48-D524-43F7-B9C6-770CB09987F4}"/>
              </a:ext>
            </a:extLst>
          </p:cNvPr>
          <p:cNvSpPr txBox="1"/>
          <p:nvPr/>
        </p:nvSpPr>
        <p:spPr>
          <a:xfrm>
            <a:off x="611232" y="725196"/>
            <a:ext cx="8390528" cy="3076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SRGAN introduced perceptual + adversarial training for photo-realistic SR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ESRGAN improve visual quality using residual CNN learning, adversarial loss and improved perceptual loss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GAN-based method: fast inference but can make artifacts or over-sharpened hallucinations.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ACFCCE6-38EB-4352-BDEF-D7A8C809652C}"/>
              </a:ext>
            </a:extLst>
          </p:cNvPr>
          <p:cNvSpPr/>
          <p:nvPr/>
        </p:nvSpPr>
        <p:spPr>
          <a:xfrm>
            <a:off x="2638205" y="4612640"/>
            <a:ext cx="8229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2F6CB857-1722-4214-B552-35E5C85DCE9C}"/>
              </a:ext>
            </a:extLst>
          </p:cNvPr>
          <p:cNvSpPr/>
          <p:nvPr/>
        </p:nvSpPr>
        <p:spPr>
          <a:xfrm>
            <a:off x="5528735" y="4612640"/>
            <a:ext cx="82296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CBDEFC7-066D-45E0-81FD-6C0FAA87A212}"/>
              </a:ext>
            </a:extLst>
          </p:cNvPr>
          <p:cNvSpPr/>
          <p:nvPr/>
        </p:nvSpPr>
        <p:spPr>
          <a:xfrm>
            <a:off x="999065" y="3972560"/>
            <a:ext cx="1645920" cy="1280160"/>
          </a:xfrm>
          <a:prstGeom prst="roundRect">
            <a:avLst>
              <a:gd name="adj" fmla="val 4286"/>
            </a:avLst>
          </a:prstGeom>
          <a:solidFill>
            <a:srgbClr val="FFF4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7D9DDE2-E380-453C-8BD5-D8170A887BBE}"/>
              </a:ext>
            </a:extLst>
          </p:cNvPr>
          <p:cNvSpPr/>
          <p:nvPr/>
        </p:nvSpPr>
        <p:spPr>
          <a:xfrm>
            <a:off x="1072217" y="4045712"/>
            <a:ext cx="14996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→ SR</a:t>
            </a:r>
            <a:endParaRPr lang="en-US" sz="15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3AC57717-7009-41B2-9F24-48AFFD044950}"/>
              </a:ext>
            </a:extLst>
          </p:cNvPr>
          <p:cNvSpPr/>
          <p:nvPr/>
        </p:nvSpPr>
        <p:spPr>
          <a:xfrm>
            <a:off x="3467945" y="3972560"/>
            <a:ext cx="2057400" cy="1280160"/>
          </a:xfrm>
          <a:prstGeom prst="roundRect">
            <a:avLst>
              <a:gd name="adj" fmla="val 4286"/>
            </a:avLst>
          </a:prstGeom>
          <a:solidFill>
            <a:srgbClr val="F7FBFF"/>
          </a:solidFill>
          <a:ln w="15240">
            <a:solidFill>
              <a:srgbClr val="5BBEEA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1DA1F64-EA30-4C06-AA38-A860D7AF9D18}"/>
              </a:ext>
            </a:extLst>
          </p:cNvPr>
          <p:cNvSpPr/>
          <p:nvPr/>
        </p:nvSpPr>
        <p:spPr>
          <a:xfrm>
            <a:off x="3541097" y="4045712"/>
            <a:ext cx="19110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or generated?</a:t>
            </a:r>
            <a:endParaRPr lang="en-US" sz="15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6B820888-EB8D-4B99-85E0-9073ACA2CF7F}"/>
              </a:ext>
            </a:extLst>
          </p:cNvPr>
          <p:cNvSpPr/>
          <p:nvPr/>
        </p:nvSpPr>
        <p:spPr>
          <a:xfrm>
            <a:off x="6357625" y="3972560"/>
            <a:ext cx="1920240" cy="1280160"/>
          </a:xfrm>
          <a:prstGeom prst="roundRect">
            <a:avLst>
              <a:gd name="adj" fmla="val 4286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B740E59-1E6E-41E3-99B9-B5D2549DA3F4}"/>
              </a:ext>
            </a:extLst>
          </p:cNvPr>
          <p:cNvSpPr/>
          <p:nvPr/>
        </p:nvSpPr>
        <p:spPr>
          <a:xfrm>
            <a:off x="6430777" y="4045712"/>
            <a:ext cx="17739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textures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natural details</a:t>
            </a:r>
            <a:endParaRPr lang="en-US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7A603E-F515-4730-B352-307B48D2F894}"/>
              </a:ext>
            </a:extLst>
          </p:cNvPr>
          <p:cNvSpPr/>
          <p:nvPr/>
        </p:nvSpPr>
        <p:spPr>
          <a:xfrm>
            <a:off x="301381" y="559292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</a:rPr>
              <a:t>[1]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 </a:t>
            </a:r>
            <a:r>
              <a:rPr lang="en-US" sz="1000" i="1">
                <a:solidFill>
                  <a:srgbClr val="222222"/>
                </a:solidFill>
              </a:rPr>
              <a:t>Ledig, Christian, et al. "Photo-realistic single image super-resolution using a generative adversarial network." 2017 IEEE conference on computer vision and pattern recognition (CVPR). IEEE, 2017.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2BCAF4-30D7-4CF3-B145-A62DB33673CF}"/>
              </a:ext>
            </a:extLst>
          </p:cNvPr>
          <p:cNvSpPr/>
          <p:nvPr/>
        </p:nvSpPr>
        <p:spPr>
          <a:xfrm>
            <a:off x="301381" y="5959792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</a:rPr>
              <a:t>[2]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 </a:t>
            </a:r>
            <a:r>
              <a:rPr lang="en-US" sz="1000" i="1">
                <a:solidFill>
                  <a:srgbClr val="222222"/>
                </a:solidFill>
              </a:rPr>
              <a:t>Wang, Xintao, et al. "Esrgan: Enhanced super-resolution generative adversarial networks." European conference on computer vision. Cham: Springer International Publishing, 2018.</a:t>
            </a:r>
          </a:p>
        </p:txBody>
      </p:sp>
    </p:spTree>
    <p:extLst>
      <p:ext uri="{BB962C8B-B14F-4D97-AF65-F5344CB8AC3E}">
        <p14:creationId xmlns:p14="http://schemas.microsoft.com/office/powerpoint/2010/main" val="26142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Diffusion-based Super-Resolution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FCE48-D524-43F7-B9C6-770CB09987F4}"/>
              </a:ext>
            </a:extLst>
          </p:cNvPr>
          <p:cNvSpPr txBox="1"/>
          <p:nvPr/>
        </p:nvSpPr>
        <p:spPr>
          <a:xfrm>
            <a:off x="611232" y="994436"/>
            <a:ext cx="8390528" cy="2107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Learns conditional denoising distribution </a:t>
            </a:r>
            <a:r>
              <a:rPr lang="en-US" sz="240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p(xHR | xLR)</a:t>
            </a:r>
            <a:endParaRPr lang="en-US" sz="2200" b="1"/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Produce highly realistic results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High cost: many sampling steps, higher latency than feed-forward CNN/GAN</a:t>
            </a: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A3A668C-46B8-4D9D-9535-8B2FC862E840}"/>
              </a:ext>
            </a:extLst>
          </p:cNvPr>
          <p:cNvSpPr/>
          <p:nvPr/>
        </p:nvSpPr>
        <p:spPr>
          <a:xfrm>
            <a:off x="650240" y="38404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5240">
            <a:solidFill>
              <a:srgbClr val="5BBEEA"/>
            </a:solidFill>
            <a:prstDash val="solid"/>
          </a:ln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A6CCD06-7FCD-436A-9012-FCE72ACBB989}"/>
              </a:ext>
            </a:extLst>
          </p:cNvPr>
          <p:cNvSpPr/>
          <p:nvPr/>
        </p:nvSpPr>
        <p:spPr>
          <a:xfrm>
            <a:off x="723392" y="3913632"/>
            <a:ext cx="12710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condition</a:t>
            </a:r>
            <a:endParaRPr lang="en-US" sz="15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B577825A-4F4E-4D96-ADB4-AEBF843DDF23}"/>
              </a:ext>
            </a:extLst>
          </p:cNvPr>
          <p:cNvSpPr/>
          <p:nvPr/>
        </p:nvSpPr>
        <p:spPr>
          <a:xfrm>
            <a:off x="2075181" y="4187952"/>
            <a:ext cx="6858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BF58E142-16AB-4D05-8023-8822B100F267}"/>
              </a:ext>
            </a:extLst>
          </p:cNvPr>
          <p:cNvSpPr/>
          <p:nvPr/>
        </p:nvSpPr>
        <p:spPr>
          <a:xfrm>
            <a:off x="2766401" y="384048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240">
            <a:solidFill>
              <a:srgbClr val="5BBEEA"/>
            </a:solidFill>
            <a:prstDash val="solid"/>
          </a:ln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B77BCF5-A6C9-4E28-9031-73E15E9816AD}"/>
              </a:ext>
            </a:extLst>
          </p:cNvPr>
          <p:cNvSpPr/>
          <p:nvPr/>
        </p:nvSpPr>
        <p:spPr>
          <a:xfrm>
            <a:off x="2839553" y="3913632"/>
            <a:ext cx="13167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noise</a:t>
            </a:r>
            <a:endParaRPr lang="en-US" sz="1500" b="1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2A4A43F3-2904-46C0-B3CD-939CB3AAB8A6}"/>
              </a:ext>
            </a:extLst>
          </p:cNvPr>
          <p:cNvSpPr/>
          <p:nvPr/>
        </p:nvSpPr>
        <p:spPr>
          <a:xfrm>
            <a:off x="4234186" y="4187952"/>
            <a:ext cx="731520" cy="0"/>
          </a:xfrm>
          <a:prstGeom prst="line">
            <a:avLst/>
          </a:prstGeom>
          <a:noFill/>
          <a:ln w="22860">
            <a:solidFill>
              <a:srgbClr val="6A4C93"/>
            </a:solidFill>
            <a:prstDash val="solid"/>
            <a:headEnd type="none"/>
            <a:tailEnd type="triangle"/>
          </a:ln>
        </p:spPr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373DA43-2954-44AE-974D-AE7AFE24BD8E}"/>
              </a:ext>
            </a:extLst>
          </p:cNvPr>
          <p:cNvSpPr/>
          <p:nvPr/>
        </p:nvSpPr>
        <p:spPr>
          <a:xfrm>
            <a:off x="4972473" y="370332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1EDFF"/>
          </a:solidFill>
          <a:ln w="15240">
            <a:solidFill>
              <a:srgbClr val="6A4C93"/>
            </a:solidFill>
            <a:prstDash val="solid"/>
          </a:ln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E4C7166-916C-4BB9-9F1D-03FF6EE6448F}"/>
              </a:ext>
            </a:extLst>
          </p:cNvPr>
          <p:cNvSpPr/>
          <p:nvPr/>
        </p:nvSpPr>
        <p:spPr>
          <a:xfrm>
            <a:off x="5045625" y="3776472"/>
            <a:ext cx="15453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steps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→ 0</a:t>
            </a:r>
            <a:endParaRPr lang="en-US" sz="150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02C4085F-EDAA-4CC2-8F0B-0D001BA637D9}"/>
              </a:ext>
            </a:extLst>
          </p:cNvPr>
          <p:cNvSpPr/>
          <p:nvPr/>
        </p:nvSpPr>
        <p:spPr>
          <a:xfrm>
            <a:off x="6670889" y="4187952"/>
            <a:ext cx="640080" cy="0"/>
          </a:xfrm>
          <a:prstGeom prst="line">
            <a:avLst/>
          </a:prstGeom>
          <a:noFill/>
          <a:ln w="22860">
            <a:solidFill>
              <a:srgbClr val="6A4C93"/>
            </a:solidFill>
            <a:prstDash val="solid"/>
            <a:headEnd type="none"/>
            <a:tailEnd type="triangle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D230E3A0-ADE7-4FB5-A996-BC2FC35FFA4D}"/>
              </a:ext>
            </a:extLst>
          </p:cNvPr>
          <p:cNvSpPr/>
          <p:nvPr/>
        </p:nvSpPr>
        <p:spPr>
          <a:xfrm>
            <a:off x="7305892" y="384048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DD903F63-8518-4A72-9398-966A99BAA1E4}"/>
              </a:ext>
            </a:extLst>
          </p:cNvPr>
          <p:cNvSpPr/>
          <p:nvPr/>
        </p:nvSpPr>
        <p:spPr>
          <a:xfrm>
            <a:off x="7379044" y="3913632"/>
            <a:ext cx="8595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sample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6746236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5">
            <a:extLst>
              <a:ext uri="{FF2B5EF4-FFF2-40B4-BE49-F238E27FC236}">
                <a16:creationId xmlns:a16="http://schemas.microsoft.com/office/drawing/2014/main" id="{3D35AC4F-50FE-4260-B82B-D797A1DA8B65}"/>
              </a:ext>
            </a:extLst>
          </p:cNvPr>
          <p:cNvSpPr/>
          <p:nvPr/>
        </p:nvSpPr>
        <p:spPr>
          <a:xfrm>
            <a:off x="5853792" y="3549294"/>
            <a:ext cx="822960" cy="0"/>
          </a:xfrm>
          <a:prstGeom prst="line">
            <a:avLst/>
          </a:prstGeom>
          <a:noFill/>
          <a:ln w="22860">
            <a:solidFill>
              <a:srgbClr val="6A4C93"/>
            </a:solidFill>
            <a:prstDash val="solid"/>
            <a:headEnd type="none"/>
            <a:tailEnd type="triangle"/>
          </a:ln>
        </p:spPr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8494FE46-D702-4A00-B6F7-58982E87818D}"/>
              </a:ext>
            </a:extLst>
          </p:cNvPr>
          <p:cNvSpPr/>
          <p:nvPr/>
        </p:nvSpPr>
        <p:spPr>
          <a:xfrm>
            <a:off x="2810872" y="3549294"/>
            <a:ext cx="822960" cy="0"/>
          </a:xfrm>
          <a:prstGeom prst="line">
            <a:avLst/>
          </a:prstGeom>
          <a:noFill/>
          <a:ln w="22860">
            <a:solidFill>
              <a:srgbClr val="6A4C93"/>
            </a:solidFill>
            <a:prstDash val="solid"/>
            <a:headEnd type="none"/>
            <a:tailEnd type="triangle"/>
          </a:ln>
        </p:spPr>
      </p:sp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Utilizing Large Diffusion Priors for Real-World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800" y="6337450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FCE48-D524-43F7-B9C6-770CB09987F4}"/>
              </a:ext>
            </a:extLst>
          </p:cNvPr>
          <p:cNvSpPr txBox="1"/>
          <p:nvPr/>
        </p:nvSpPr>
        <p:spPr>
          <a:xfrm>
            <a:off x="611232" y="994436"/>
            <a:ext cx="8390528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StableSR: exploits pretrained diffusion prior without fully retrain</a:t>
            </a:r>
            <a:endParaRPr lang="en-US" sz="2200" b="1"/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Pretrained model: Stable Diffusion, FLUX,…</a:t>
            </a: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451474B1-BE49-4C87-85FF-50EF7A64D5EA}"/>
              </a:ext>
            </a:extLst>
          </p:cNvPr>
          <p:cNvSpPr/>
          <p:nvPr/>
        </p:nvSpPr>
        <p:spPr>
          <a:xfrm>
            <a:off x="611232" y="3064662"/>
            <a:ext cx="2370728" cy="960120"/>
          </a:xfrm>
          <a:prstGeom prst="roundRect">
            <a:avLst>
              <a:gd name="adj" fmla="val 5714"/>
            </a:avLst>
          </a:prstGeom>
          <a:solidFill>
            <a:srgbClr val="F1EDFF"/>
          </a:solidFill>
          <a:ln w="15240">
            <a:solidFill>
              <a:srgbClr val="6A4C93"/>
            </a:solidFill>
            <a:prstDash val="solid"/>
          </a:ln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6A9CA7D-A694-4FC5-A240-01AC98F8EE02}"/>
              </a:ext>
            </a:extLst>
          </p:cNvPr>
          <p:cNvSpPr/>
          <p:nvPr/>
        </p:nvSpPr>
        <p:spPr>
          <a:xfrm>
            <a:off x="684384" y="3137814"/>
            <a:ext cx="22569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text-to-image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</a:t>
            </a:r>
            <a:endParaRPr lang="en-US" sz="15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6F6FE745-D098-4573-9152-B7D28FB3AC41}"/>
              </a:ext>
            </a:extLst>
          </p:cNvPr>
          <p:cNvSpPr/>
          <p:nvPr/>
        </p:nvSpPr>
        <p:spPr>
          <a:xfrm>
            <a:off x="3633832" y="2927502"/>
            <a:ext cx="2423160" cy="1234440"/>
          </a:xfrm>
          <a:prstGeom prst="roundRect">
            <a:avLst>
              <a:gd name="adj" fmla="val 4444"/>
            </a:avLst>
          </a:prstGeom>
          <a:solidFill>
            <a:srgbClr val="EAF4FF"/>
          </a:solidFill>
          <a:ln w="15240">
            <a:solidFill>
              <a:srgbClr val="004B98"/>
            </a:solidFill>
            <a:prstDash val="solid"/>
          </a:ln>
        </p:spPr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4D33809F-A965-4F44-85D8-F44A63ACEBE4}"/>
              </a:ext>
            </a:extLst>
          </p:cNvPr>
          <p:cNvSpPr/>
          <p:nvPr/>
        </p:nvSpPr>
        <p:spPr>
          <a:xfrm>
            <a:off x="3706984" y="3000654"/>
            <a:ext cx="227685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SR-specific encoder / ControlNet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LR condition</a:t>
            </a:r>
            <a:endParaRPr lang="en-US" sz="15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DC5F48EB-E07F-4AD2-93DF-CCCCDE0E95DE}"/>
              </a:ext>
            </a:extLst>
          </p:cNvPr>
          <p:cNvSpPr/>
          <p:nvPr/>
        </p:nvSpPr>
        <p:spPr>
          <a:xfrm>
            <a:off x="6675120" y="3079902"/>
            <a:ext cx="1955800" cy="950970"/>
          </a:xfrm>
          <a:prstGeom prst="roundRect">
            <a:avLst>
              <a:gd name="adj" fmla="val 4444"/>
            </a:avLst>
          </a:prstGeom>
          <a:solidFill>
            <a:srgbClr val="EAF7EA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05FBEFF-76BE-4173-A39A-7DB62D0C5815}"/>
              </a:ext>
            </a:extLst>
          </p:cNvPr>
          <p:cNvSpPr/>
          <p:nvPr/>
        </p:nvSpPr>
        <p:spPr>
          <a:xfrm>
            <a:off x="6863080" y="3015894"/>
            <a:ext cx="15540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HR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controllable fidelity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97357D-6598-4F00-8E74-1E073C94933B}"/>
              </a:ext>
            </a:extLst>
          </p:cNvPr>
          <p:cNvSpPr/>
          <p:nvPr/>
        </p:nvSpPr>
        <p:spPr>
          <a:xfrm>
            <a:off x="331861" y="593125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Reference: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 </a:t>
            </a:r>
            <a:r>
              <a:rPr lang="en-US" sz="1000" i="1">
                <a:solidFill>
                  <a:srgbClr val="222222"/>
                </a:solidFill>
              </a:rPr>
              <a:t>Wang, Jianyi, et al. "Exploiting diffusion prior for real-world image super-resolution." International Journal of Computer Vision 132.12 (2024): 5929-5949.</a:t>
            </a:r>
          </a:p>
        </p:txBody>
      </p:sp>
    </p:spTree>
    <p:extLst>
      <p:ext uri="{BB962C8B-B14F-4D97-AF65-F5344CB8AC3E}">
        <p14:creationId xmlns:p14="http://schemas.microsoft.com/office/powerpoint/2010/main" val="198221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FreqOrtho-SR: Frequency-Guided Expert Learning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800" y="6337450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FCE48-D524-43F7-B9C6-770CB09987F4}"/>
              </a:ext>
            </a:extLst>
          </p:cNvPr>
          <p:cNvSpPr txBox="1"/>
          <p:nvPr/>
        </p:nvSpPr>
        <p:spPr>
          <a:xfrm>
            <a:off x="611232" y="994436"/>
            <a:ext cx="8390528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Mitigate the perceptual-fidelity trade-off</a:t>
            </a:r>
            <a:endParaRPr lang="en-US" sz="2200" b="1"/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Pretrained model: SD 1.5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97357D-6598-4F00-8E74-1E073C94933B}"/>
              </a:ext>
            </a:extLst>
          </p:cNvPr>
          <p:cNvSpPr/>
          <p:nvPr/>
        </p:nvSpPr>
        <p:spPr>
          <a:xfrm>
            <a:off x="331861" y="593125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Reference: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 </a:t>
            </a:r>
            <a:r>
              <a:rPr lang="en-US" sz="1000" i="1">
                <a:solidFill>
                  <a:srgbClr val="222222"/>
                </a:solidFill>
              </a:rPr>
              <a:t>Hoang, Tran, et al. "FreqOrtho-SR: Frequency-Guided Orthogonal Expert Learning for Real-World Image Super-Resolution." ECCV 2026.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20D9AA-55EA-46B0-BDF8-85FA9FDD8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15" y="2210538"/>
            <a:ext cx="8007762" cy="35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06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FreqOrtho-SR: Frequency-Guided Expert Learning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800" y="6337450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FCE48-D524-43F7-B9C6-770CB09987F4}"/>
              </a:ext>
            </a:extLst>
          </p:cNvPr>
          <p:cNvSpPr txBox="1"/>
          <p:nvPr/>
        </p:nvSpPr>
        <p:spPr>
          <a:xfrm>
            <a:off x="611232" y="886298"/>
            <a:ext cx="8390528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Mixture of Frequency LoRA Expert</a:t>
            </a:r>
            <a:endParaRPr lang="en-US" sz="2200" b="1"/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Frequency space can likely separate noise pattern better.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D14B54-9D19-4022-89D0-EBC8583D0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279" y="2055365"/>
            <a:ext cx="7160814" cy="41771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19F34E-D531-458F-8B43-4907908C9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735" y="1895452"/>
            <a:ext cx="635033" cy="8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912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FreqOrtho-SR: Frequency-Guided Expert Learning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800" y="6337450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19F34E-D531-458F-8B43-4907908C9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735" y="1895452"/>
            <a:ext cx="635033" cy="8826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41169B-1346-429D-B9E6-0ACC3E08D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877484"/>
            <a:ext cx="6578782" cy="549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830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FreqOrtho-SR: Frequency-Guided Expert Learning 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800" y="6337450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19F34E-D531-458F-8B43-4907908C9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735" y="1895452"/>
            <a:ext cx="635033" cy="8826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465F1A-5D94-404C-97E0-B6E991E7B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39" y="1568422"/>
            <a:ext cx="8548311" cy="402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92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00f9067ec7_4_107"/>
          <p:cNvSpPr txBox="1">
            <a:spLocks noGrp="1"/>
          </p:cNvSpPr>
          <p:nvPr>
            <p:ph type="title"/>
          </p:nvPr>
        </p:nvSpPr>
        <p:spPr>
          <a:xfrm>
            <a:off x="623900" y="2220678"/>
            <a:ext cx="7886700" cy="73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ct val="25000"/>
              <a:buFont typeface="Calibri"/>
              <a:buNone/>
              <a:defRPr/>
            </a:pPr>
            <a:r>
              <a:rPr lang="en-US" sz="3600"/>
              <a:t>Deep Learning for</a:t>
            </a:r>
            <a:r>
              <a:rPr lang="en-US" altLang="ko-KR" sz="3600"/>
              <a:t> Video</a:t>
            </a:r>
            <a:r>
              <a:rPr lang="en-US" sz="3600"/>
              <a:t> Super-Resolution</a:t>
            </a:r>
          </a:p>
        </p:txBody>
      </p:sp>
      <p:sp>
        <p:nvSpPr>
          <p:cNvPr id="1025" name="Google Shape;1025;g300f9067ec7_4_10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47</a:t>
            </a:fld>
            <a:endParaRPr lang="en-US"/>
          </a:p>
        </p:txBody>
      </p:sp>
      <p:sp>
        <p:nvSpPr>
          <p:cNvPr id="1026" name="Google Shape;1026;g300f9067ec7_4_10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CS632_2026_Fall Embedded Operating Systems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655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Deep Learning for VSR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1CE08A-D40D-41B9-9F91-8D9403161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18" y="3170544"/>
            <a:ext cx="8078525" cy="2999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73B508-ED7B-40AA-A602-1F026B6985A0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General pipeline for VSR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292796-4115-4AEA-968E-00763DAB5A0B}"/>
              </a:ext>
            </a:extLst>
          </p:cNvPr>
          <p:cNvSpPr/>
          <p:nvPr/>
        </p:nvSpPr>
        <p:spPr>
          <a:xfrm>
            <a:off x="859806" y="1531827"/>
            <a:ext cx="8436594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2200">
                <a:solidFill>
                  <a:schemeClr val="tx1"/>
                </a:solidFill>
              </a:rPr>
              <a:t>Feature extraction &amp; fusion and Reconstruction block is </a:t>
            </a:r>
          </a:p>
          <a:p>
            <a:pPr lvl="4">
              <a:lnSpc>
                <a:spcPct val="150000"/>
              </a:lnSpc>
              <a:defRPr/>
            </a:pPr>
            <a:r>
              <a:rPr lang="en-US" altLang="ko-KR" sz="2200">
                <a:solidFill>
                  <a:schemeClr val="tx1"/>
                </a:solidFill>
              </a:rPr>
              <a:t>same in SISR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sz="2200"/>
              <a:t>Alignment module is added to work with frame sequence</a:t>
            </a:r>
            <a:endParaRPr lang="en-US" sz="2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7633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Current Limitations in Architecture Designs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AD80C-3E8C-4971-8A6C-FC544220872D}"/>
              </a:ext>
            </a:extLst>
          </p:cNvPr>
          <p:cNvSpPr txBox="1"/>
          <p:nvPr/>
        </p:nvSpPr>
        <p:spPr>
          <a:xfrm>
            <a:off x="458832" y="801662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Feature extraction backbone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FECCE1-85EF-4882-A706-368DA01F9CBE}"/>
              </a:ext>
            </a:extLst>
          </p:cNvPr>
          <p:cNvSpPr/>
          <p:nvPr/>
        </p:nvSpPr>
        <p:spPr>
          <a:xfrm>
            <a:off x="707406" y="1453006"/>
            <a:ext cx="8436594" cy="1368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CNN backbone =&gt; </a:t>
            </a:r>
            <a:r>
              <a:rPr lang="en-US" sz="1800">
                <a:solidFill>
                  <a:srgbClr val="FF0000"/>
                </a:solidFill>
              </a:rPr>
              <a:t>Limited receptive field</a:t>
            </a:r>
            <a:r>
              <a:rPr lang="en-US" sz="1800">
                <a:solidFill>
                  <a:schemeClr val="tx1"/>
                </a:solidFill>
              </a:rPr>
              <a:t> </a:t>
            </a:r>
            <a:endParaRPr lang="en-US" sz="1800"/>
          </a:p>
          <a:p>
            <a:pPr fontAlgn="base"/>
            <a:endParaRPr lang="en-US" sz="180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1800"/>
              <a:t>Transformer backbone =&gt; </a:t>
            </a:r>
            <a:r>
              <a:rPr lang="en-US" sz="1800">
                <a:solidFill>
                  <a:srgbClr val="FF0000"/>
                </a:solidFill>
              </a:rPr>
              <a:t>Quadratic complexity &amp; Scale poorly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endParaRPr lang="en-US" sz="220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2C199E-301E-42EA-9F13-220563E5C9A3}"/>
              </a:ext>
            </a:extLst>
          </p:cNvPr>
          <p:cNvSpPr txBox="1"/>
          <p:nvPr/>
        </p:nvSpPr>
        <p:spPr>
          <a:xfrm>
            <a:off x="464357" y="2462872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What could be a good solution?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C4A50A-DA79-4946-A17E-5DF155E37315}"/>
              </a:ext>
            </a:extLst>
          </p:cNvPr>
          <p:cNvSpPr/>
          <p:nvPr/>
        </p:nvSpPr>
        <p:spPr>
          <a:xfrm>
            <a:off x="712931" y="3000263"/>
            <a:ext cx="7718138" cy="170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1800"/>
              <a:t>Mamba architecture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1800"/>
              <a:t>Linear Complexity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1800"/>
              <a:t>Faster Inference</a:t>
            </a:r>
          </a:p>
          <a:p>
            <a:pPr marL="342900" lvl="4" indent="-342900">
              <a:lnSpc>
                <a:spcPct val="150000"/>
              </a:lnSpc>
              <a:buFont typeface="Arial"/>
              <a:buChar char="•"/>
              <a:defRPr/>
            </a:pPr>
            <a:r>
              <a:rPr lang="en-US" altLang="ko-KR" sz="1800"/>
              <a:t>Comparable Performance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CF663C7-7E49-4C77-B02E-0E7708475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946" y="3000263"/>
            <a:ext cx="5108654" cy="343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2574DF-2466-4580-B6F8-848A34BB305E}"/>
              </a:ext>
            </a:extLst>
          </p:cNvPr>
          <p:cNvSpPr/>
          <p:nvPr/>
        </p:nvSpPr>
        <p:spPr>
          <a:xfrm>
            <a:off x="3951798" y="5811213"/>
            <a:ext cx="3546281" cy="195997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86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Preliminary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5CA2E-6A46-4DF1-B537-618DB08ADE40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Mamba architecture</a:t>
            </a:r>
          </a:p>
        </p:txBody>
      </p:sp>
      <p:pic>
        <p:nvPicPr>
          <p:cNvPr id="1026" name="Picture 2" descr="https://substackcdn.com/image/fetch/$s_!fR9z!,w_1456,c_limit,f_auto,q_auto:good,fl_progressive:steep/https%3A%2F%2Fsubstack-post-media.s3.amazonaws.com%2Fpublic%2Fimages%2Fc94d349d-8620-45a9-8095-7c27de8b7865_1660x1356.png">
            <a:extLst>
              <a:ext uri="{FF2B5EF4-FFF2-40B4-BE49-F238E27FC236}">
                <a16:creationId xmlns:a16="http://schemas.microsoft.com/office/drawing/2014/main" id="{36E8DAC6-4E95-4AD4-9667-6814B1ADB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85" y="2019376"/>
            <a:ext cx="4139303" cy="338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s://substackcdn.com/image/fetch/f_auto,q_auto:good,fl_progressive:steep/https%3A%2F%2Fsubstack-post-media.s3.amazonaws.com%2Fpublic%2Fimages%2F55df8ede-3a16-4473-8ea9-872fe199d3a1_1904x676.png">
            <a:extLst>
              <a:ext uri="{FF2B5EF4-FFF2-40B4-BE49-F238E27FC236}">
                <a16:creationId xmlns:a16="http://schemas.microsoft.com/office/drawing/2014/main" id="{268AE4E9-D402-47B8-97E7-39BBE12B1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474" y="4215596"/>
            <a:ext cx="3690727" cy="131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928F789-4DB3-4961-81BC-DC303D483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636" y="1851203"/>
            <a:ext cx="1542428" cy="209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0458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VSRM: Video Super-Resolution with Mamba Architecture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9A64C-75FA-4029-93E2-60BAA0971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54" y="2351051"/>
            <a:ext cx="6512358" cy="35260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45CA2E-6A46-4DF1-B537-618DB08ADE40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VSRM (2025): </a:t>
            </a:r>
            <a:r>
              <a:rPr lang="en-US" sz="2200">
                <a:solidFill>
                  <a:schemeClr val="accent2"/>
                </a:solidFill>
              </a:rPr>
              <a:t>V</a:t>
            </a:r>
            <a:r>
              <a:rPr lang="en-US" sz="2200"/>
              <a:t>ideo </a:t>
            </a:r>
            <a:r>
              <a:rPr lang="en-US" sz="2200">
                <a:solidFill>
                  <a:schemeClr val="accent2"/>
                </a:solidFill>
              </a:rPr>
              <a:t>S</a:t>
            </a:r>
            <a:r>
              <a:rPr lang="en-US" sz="2200"/>
              <a:t>uper-</a:t>
            </a:r>
            <a:r>
              <a:rPr lang="en-US" sz="2200">
                <a:solidFill>
                  <a:schemeClr val="accent2"/>
                </a:solidFill>
              </a:rPr>
              <a:t>R</a:t>
            </a:r>
            <a:r>
              <a:rPr lang="en-US" sz="2200"/>
              <a:t>esolution through </a:t>
            </a:r>
            <a:r>
              <a:rPr lang="en-US" sz="2200">
                <a:solidFill>
                  <a:schemeClr val="accent2"/>
                </a:solidFill>
              </a:rPr>
              <a:t>M</a:t>
            </a:r>
            <a:r>
              <a:rPr lang="en-US" sz="2200"/>
              <a:t>amba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048F64-1F85-46A7-8D61-9AE755AD1E3F}"/>
              </a:ext>
            </a:extLst>
          </p:cNvPr>
          <p:cNvSpPr/>
          <p:nvPr/>
        </p:nvSpPr>
        <p:spPr>
          <a:xfrm>
            <a:off x="859806" y="1531827"/>
            <a:ext cx="843659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First work adapts Mamba structure for VSR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Enlarge receptive field, linear complexity</a:t>
            </a:r>
          </a:p>
          <a:p>
            <a:pPr fontAlgn="base"/>
            <a:endParaRPr lang="en-US" sz="220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7FECA8-A060-4FBD-9C40-1E7BF737FD79}"/>
              </a:ext>
            </a:extLst>
          </p:cNvPr>
          <p:cNvSpPr/>
          <p:nvPr/>
        </p:nvSpPr>
        <p:spPr>
          <a:xfrm>
            <a:off x="321672" y="6022280"/>
            <a:ext cx="83905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Tran, D. P., Hung, D. D., &amp; Kim, D. (2025). Channel-Partitioned Windowed Attention And Frequency Learning for Single Image Super-Resolution. The International Conference on Computer Vision (ICCV 2025).</a:t>
            </a:r>
          </a:p>
          <a:p>
            <a:pPr lvl="0">
              <a:defRPr/>
            </a:pPr>
            <a:endParaRPr lang="en-US" sz="1000" i="1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8901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VSRM: Video Super-Resolution with Mamba Architecture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CS632_2025_Fall Embedded Operating Systems</a:t>
            </a: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5CA2E-6A46-4DF1-B537-618DB08ADE40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Mamba module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048F64-1F85-46A7-8D61-9AE755AD1E3F}"/>
              </a:ext>
            </a:extLst>
          </p:cNvPr>
          <p:cNvSpPr/>
          <p:nvPr/>
        </p:nvSpPr>
        <p:spPr>
          <a:xfrm>
            <a:off x="859806" y="1531827"/>
            <a:ext cx="7779286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Spatial-to-Temporal Mamba (S2T-Mamba)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</a:rPr>
              <a:t>Temporal-to-Spatial Mamba (T2S-Mamba)</a:t>
            </a:r>
          </a:p>
          <a:p>
            <a:pPr fontAlgn="base">
              <a:lnSpc>
                <a:spcPct val="150000"/>
              </a:lnSpc>
            </a:pPr>
            <a:endParaRPr lang="en-US" sz="220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49E108-B0AF-43A8-81DE-E043A959E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145" y="2623931"/>
            <a:ext cx="5090151" cy="34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291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VSRM: Video Super-Resolution with Mamba Architecture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5CA2E-6A46-4DF1-B537-618DB08ADE40}"/>
              </a:ext>
            </a:extLst>
          </p:cNvPr>
          <p:cNvSpPr txBox="1"/>
          <p:nvPr/>
        </p:nvSpPr>
        <p:spPr>
          <a:xfrm>
            <a:off x="611232" y="994436"/>
            <a:ext cx="8390528" cy="53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Deformable Cross-mamba Alignment (DCA)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42E464-6288-4DB1-9F9D-407D0FD1A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512" y="2540441"/>
            <a:ext cx="4365438" cy="36711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42B707-F8D8-47AF-A06F-548F75AC11BC}"/>
              </a:ext>
            </a:extLst>
          </p:cNvPr>
          <p:cNvSpPr txBox="1"/>
          <p:nvPr/>
        </p:nvSpPr>
        <p:spPr>
          <a:xfrm>
            <a:off x="3725186" y="3820978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Target frame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14FAF-BFDB-4647-B334-1B7E03C43889}"/>
              </a:ext>
            </a:extLst>
          </p:cNvPr>
          <p:cNvSpPr txBox="1"/>
          <p:nvPr/>
        </p:nvSpPr>
        <p:spPr>
          <a:xfrm>
            <a:off x="1157362" y="3075903"/>
            <a:ext cx="11352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Reference frame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3D6DE7-B032-4E76-96B7-CF4063F83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309" y="1626029"/>
            <a:ext cx="5104736" cy="4666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4D141F-5132-4A2D-BC31-08F6D7E1FD77}"/>
              </a:ext>
            </a:extLst>
          </p:cNvPr>
          <p:cNvSpPr txBox="1"/>
          <p:nvPr/>
        </p:nvSpPr>
        <p:spPr>
          <a:xfrm>
            <a:off x="2532887" y="2193470"/>
            <a:ext cx="11416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/>
              <a:t>Warping function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FA9B28-B590-4F96-87BB-BAB73FADA5B7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842591" y="2010849"/>
            <a:ext cx="261126" cy="182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8760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VSRM: Video Super-Resolution with Mamba Architecture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8BBBF7-D6D9-4F3E-80FA-4AC37E10E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09" y="2492146"/>
            <a:ext cx="8388781" cy="35434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655708-E256-421C-9364-303A98B29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539" y="822372"/>
            <a:ext cx="4083260" cy="166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47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VSRM: Video Super-Resolution with Mamba Architecture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B9BD91-6616-4CA7-91C0-A782096A7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577" y="3205351"/>
            <a:ext cx="6243196" cy="30978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9BB109-0008-40E1-BCBC-29F290A1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269" y="785856"/>
            <a:ext cx="4363581" cy="228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276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00f9067ec7_4_107"/>
          <p:cNvSpPr txBox="1">
            <a:spLocks noGrp="1"/>
          </p:cNvSpPr>
          <p:nvPr>
            <p:ph type="title"/>
          </p:nvPr>
        </p:nvSpPr>
        <p:spPr>
          <a:xfrm>
            <a:off x="623900" y="2220678"/>
            <a:ext cx="7886700" cy="73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ct val="25000"/>
              <a:buFont typeface="Calibri"/>
              <a:buNone/>
              <a:defRPr/>
            </a:pPr>
            <a:r>
              <a:rPr lang="en-US" sz="3600"/>
              <a:t>Open Issues &amp; Pratical Takeaways</a:t>
            </a:r>
          </a:p>
        </p:txBody>
      </p:sp>
      <p:sp>
        <p:nvSpPr>
          <p:cNvPr id="1025" name="Google Shape;1025;g300f9067ec7_4_10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56</a:t>
            </a:fld>
            <a:endParaRPr lang="en-US"/>
          </a:p>
        </p:txBody>
      </p:sp>
      <p:sp>
        <p:nvSpPr>
          <p:cNvPr id="1026" name="Google Shape;1026;g300f9067ec7_4_107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en-US"/>
              <a:t>CS632_2026_Fall Embedded Operating Systems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122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Open Issues 1: Metrics and Human Preference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B27016-364B-47B3-B59C-00B6B4D84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572" y="2505341"/>
            <a:ext cx="4540624" cy="3018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FEAE11-2CEF-44D0-9F3C-079837DCA0DC}"/>
              </a:ext>
            </a:extLst>
          </p:cNvPr>
          <p:cNvSpPr txBox="1"/>
          <p:nvPr/>
        </p:nvSpPr>
        <p:spPr>
          <a:xfrm>
            <a:off x="436303" y="899020"/>
            <a:ext cx="8707697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Metric: Almost paper use distortion metric (PSNR/SSIM)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But, high PSNR/SSIM donot guarantee that looks good to human</a:t>
            </a:r>
          </a:p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>
                <a:solidFill>
                  <a:srgbClr val="FF0000"/>
                </a:solidFill>
              </a:rPr>
              <a:t>Perceptual quality (Human opinion score) needs to explore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8CE43-8D66-4078-8B38-6F37F7DCE64F}"/>
              </a:ext>
            </a:extLst>
          </p:cNvPr>
          <p:cNvSpPr/>
          <p:nvPr/>
        </p:nvSpPr>
        <p:spPr>
          <a:xfrm>
            <a:off x="321672" y="6022280"/>
            <a:ext cx="83905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00" b="1" i="1">
                <a:solidFill>
                  <a:srgbClr val="222222"/>
                </a:solidFill>
                <a:latin typeface="Arial"/>
              </a:rPr>
              <a:t>Reference</a:t>
            </a:r>
            <a:r>
              <a:rPr lang="en-US" sz="1000" i="1">
                <a:solidFill>
                  <a:srgbClr val="222222"/>
                </a:solidFill>
                <a:latin typeface="Arial"/>
              </a:rPr>
              <a:t>: </a:t>
            </a:r>
            <a:r>
              <a:rPr lang="en-US" sz="1000" i="1">
                <a:solidFill>
                  <a:srgbClr val="222222"/>
                </a:solidFill>
              </a:rPr>
              <a:t>Blau, Y., &amp; Michaeli, T. (2018). The perception-distortion tradeoff. In Proceedings of the IEEE conference on computer vision and pattern recognition (pp. 6228-6237).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631141-DAD8-4081-8621-521EBD16CE8D}"/>
              </a:ext>
            </a:extLst>
          </p:cNvPr>
          <p:cNvSpPr/>
          <p:nvPr/>
        </p:nvSpPr>
        <p:spPr>
          <a:xfrm>
            <a:off x="3337739" y="5519442"/>
            <a:ext cx="29787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/>
              <a:t>The Perception-Distortion trade-off </a:t>
            </a:r>
          </a:p>
        </p:txBody>
      </p:sp>
    </p:spTree>
    <p:extLst>
      <p:ext uri="{BB962C8B-B14F-4D97-AF65-F5344CB8AC3E}">
        <p14:creationId xmlns:p14="http://schemas.microsoft.com/office/powerpoint/2010/main" val="22318099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Open Issues 1: Real-World Degradations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2E0E3-CE55-4E00-8BCF-44B31EE780A0}"/>
              </a:ext>
            </a:extLst>
          </p:cNvPr>
          <p:cNvSpPr txBox="1"/>
          <p:nvPr/>
        </p:nvSpPr>
        <p:spPr>
          <a:xfrm>
            <a:off x="436303" y="899020"/>
            <a:ext cx="8707697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Generalization to Real-World Degradations</a:t>
            </a:r>
          </a:p>
          <a:p>
            <a:pPr marL="342900" lvl="1" indent="-342900">
              <a:lnSpc>
                <a:spcPct val="150000"/>
              </a:lnSpc>
              <a:buFont typeface="Courier New"/>
              <a:buChar char="o"/>
              <a:defRPr/>
            </a:pPr>
            <a:endParaRPr lang="en-US" sz="2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9ACF66-85C4-43BE-8C52-445C61C6E0A7}"/>
              </a:ext>
            </a:extLst>
          </p:cNvPr>
          <p:cNvSpPr/>
          <p:nvPr/>
        </p:nvSpPr>
        <p:spPr>
          <a:xfrm>
            <a:off x="977370" y="1531827"/>
            <a:ext cx="7995677" cy="206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Most SR models assume bicubic downsampling</a:t>
            </a:r>
          </a:p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But in real-world data, degradations are far more complex (noise, blur, compression, etc.)</a:t>
            </a:r>
          </a:p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Require more datasets with diverse degradations types.</a:t>
            </a:r>
          </a:p>
        </p:txBody>
      </p:sp>
    </p:spTree>
    <p:extLst>
      <p:ext uri="{BB962C8B-B14F-4D97-AF65-F5344CB8AC3E}">
        <p14:creationId xmlns:p14="http://schemas.microsoft.com/office/powerpoint/2010/main" val="20706678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/>
              <a:t>Open Issues 3: Efficiency &amp; Scalability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4E5655-51FF-479C-BD12-A8885E56654C}"/>
              </a:ext>
            </a:extLst>
          </p:cNvPr>
          <p:cNvSpPr txBox="1"/>
          <p:nvPr/>
        </p:nvSpPr>
        <p:spPr>
          <a:xfrm>
            <a:off x="436303" y="899020"/>
            <a:ext cx="8707697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Efficiency and Scalability</a:t>
            </a:r>
          </a:p>
          <a:p>
            <a:pPr marL="342900" lvl="1" indent="-342900">
              <a:lnSpc>
                <a:spcPct val="150000"/>
              </a:lnSpc>
              <a:buFont typeface="Courier New"/>
              <a:buChar char="o"/>
              <a:defRPr/>
            </a:pPr>
            <a:endParaRPr lang="en-US" sz="2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68EC03-FF1F-4699-8012-0A6AEA252075}"/>
              </a:ext>
            </a:extLst>
          </p:cNvPr>
          <p:cNvSpPr/>
          <p:nvPr/>
        </p:nvSpPr>
        <p:spPr>
          <a:xfrm>
            <a:off x="977370" y="1531827"/>
            <a:ext cx="7995677" cy="1553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Performance-Complexity trade-off</a:t>
            </a:r>
          </a:p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Large SR models are computationally heavy =&gt; Limiting deployment on mobile/edge devices and real-time apps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58572-18FB-4B93-A21B-3F4455522F0F}"/>
              </a:ext>
            </a:extLst>
          </p:cNvPr>
          <p:cNvSpPr txBox="1"/>
          <p:nvPr/>
        </p:nvSpPr>
        <p:spPr>
          <a:xfrm>
            <a:off x="436303" y="3537682"/>
            <a:ext cx="8707697" cy="104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Courier New"/>
              <a:buChar char="o"/>
              <a:defRPr/>
            </a:pPr>
            <a:r>
              <a:rPr lang="en-US" sz="2200"/>
              <a:t>Temporal Alignment among frames, making video more realistic</a:t>
            </a:r>
          </a:p>
          <a:p>
            <a:pPr marL="342900" lvl="1" indent="-342900">
              <a:lnSpc>
                <a:spcPct val="150000"/>
              </a:lnSpc>
              <a:buFont typeface="Courier New"/>
              <a:buChar char="o"/>
              <a:defRPr/>
            </a:pPr>
            <a:endParaRPr lang="en-US" sz="2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3409A-E2A2-4D5A-BF95-CC72A66E3D8D}"/>
              </a:ext>
            </a:extLst>
          </p:cNvPr>
          <p:cNvSpPr/>
          <p:nvPr/>
        </p:nvSpPr>
        <p:spPr>
          <a:xfrm>
            <a:off x="977370" y="4170489"/>
            <a:ext cx="7995677" cy="104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/>
              <a:t>Ensure smoothness across frames without flickering while still enhancing detail</a:t>
            </a:r>
          </a:p>
        </p:txBody>
      </p:sp>
    </p:spTree>
    <p:extLst>
      <p:ext uri="{BB962C8B-B14F-4D97-AF65-F5344CB8AC3E}">
        <p14:creationId xmlns:p14="http://schemas.microsoft.com/office/powerpoint/2010/main" val="12470882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Key Takeaways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41FD2D4-0006-43E4-AF76-CE7A1BA46183}"/>
              </a:ext>
            </a:extLst>
          </p:cNvPr>
          <p:cNvSpPr/>
          <p:nvPr/>
        </p:nvSpPr>
        <p:spPr>
          <a:xfrm>
            <a:off x="850392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8D20989A-131A-4366-AEC3-26C4635A427C}"/>
              </a:ext>
            </a:extLst>
          </p:cNvPr>
          <p:cNvSpPr/>
          <p:nvPr/>
        </p:nvSpPr>
        <p:spPr>
          <a:xfrm>
            <a:off x="485140" y="16151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4B98"/>
          </a:solidFill>
          <a:ln w="15240">
            <a:solidFill>
              <a:srgbClr val="004B98"/>
            </a:solidFill>
            <a:prstDash val="solid"/>
          </a:ln>
        </p:spPr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36EC87A-0FB2-45BE-8753-FF1742C51BBA}"/>
              </a:ext>
            </a:extLst>
          </p:cNvPr>
          <p:cNvSpPr/>
          <p:nvPr/>
        </p:nvSpPr>
        <p:spPr>
          <a:xfrm>
            <a:off x="558292" y="16882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ACD3313B-8A0D-4F4C-BB51-5503C538D18D}"/>
              </a:ext>
            </a:extLst>
          </p:cNvPr>
          <p:cNvSpPr/>
          <p:nvPr/>
        </p:nvSpPr>
        <p:spPr>
          <a:xfrm>
            <a:off x="1125220" y="16608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Non-generative models optimize fidelity and remain strong for controlled settings.</a:t>
            </a:r>
            <a:endParaRPr lang="en-US" sz="18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57F8A15C-6DB4-4881-B23A-099A23D44AB7}"/>
              </a:ext>
            </a:extLst>
          </p:cNvPr>
          <p:cNvSpPr/>
          <p:nvPr/>
        </p:nvSpPr>
        <p:spPr>
          <a:xfrm>
            <a:off x="485140" y="25752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4B98"/>
          </a:solidFill>
          <a:ln w="15240">
            <a:solidFill>
              <a:srgbClr val="004B98"/>
            </a:solidFill>
            <a:prstDash val="solid"/>
          </a:ln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682194E0-B1D8-447F-9B44-18CCBC1191F3}"/>
              </a:ext>
            </a:extLst>
          </p:cNvPr>
          <p:cNvSpPr/>
          <p:nvPr/>
        </p:nvSpPr>
        <p:spPr>
          <a:xfrm>
            <a:off x="558292" y="2648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0538A46F-23AD-447D-BF39-0E286EFC7640}"/>
              </a:ext>
            </a:extLst>
          </p:cNvPr>
          <p:cNvSpPr/>
          <p:nvPr/>
        </p:nvSpPr>
        <p:spPr>
          <a:xfrm>
            <a:off x="1125220" y="26209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models improve perceptual realism but introduce hallucination risk.</a:t>
            </a:r>
            <a:endParaRPr lang="en-US" sz="18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AE3D06BA-8B03-46BC-828E-4EBE7639B18C}"/>
              </a:ext>
            </a:extLst>
          </p:cNvPr>
          <p:cNvSpPr/>
          <p:nvPr/>
        </p:nvSpPr>
        <p:spPr>
          <a:xfrm>
            <a:off x="485140" y="35353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4B98"/>
          </a:solidFill>
          <a:ln w="15240">
            <a:solidFill>
              <a:srgbClr val="004B98"/>
            </a:solidFill>
            <a:prstDash val="solid"/>
          </a:ln>
        </p:spPr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7BD4B599-FCA7-47A6-A086-2A040DB1FCFB}"/>
              </a:ext>
            </a:extLst>
          </p:cNvPr>
          <p:cNvSpPr/>
          <p:nvPr/>
        </p:nvSpPr>
        <p:spPr>
          <a:xfrm>
            <a:off x="558292" y="3608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CAE88BD-1591-4C5D-AE5D-C450A0CBFB0A}"/>
              </a:ext>
            </a:extLst>
          </p:cNvPr>
          <p:cNvSpPr/>
          <p:nvPr/>
        </p:nvSpPr>
        <p:spPr>
          <a:xfrm>
            <a:off x="1125220" y="3581100"/>
            <a:ext cx="7866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SR adds temporal alignment, consistency, and scalability constraints.</a:t>
            </a:r>
            <a:endParaRPr lang="en-US" sz="18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678893E2-D1D0-4D91-9EA5-25E285569641}"/>
              </a:ext>
            </a:extLst>
          </p:cNvPr>
          <p:cNvSpPr/>
          <p:nvPr/>
        </p:nvSpPr>
        <p:spPr>
          <a:xfrm>
            <a:off x="485140" y="44955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4B98"/>
          </a:solidFill>
          <a:ln w="15240">
            <a:solidFill>
              <a:srgbClr val="004B98"/>
            </a:solidFill>
            <a:prstDash val="solid"/>
          </a:ln>
        </p:spPr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4DF44767-3C3B-4945-BFF8-3819FF8E2D61}"/>
              </a:ext>
            </a:extLst>
          </p:cNvPr>
          <p:cNvSpPr/>
          <p:nvPr/>
        </p:nvSpPr>
        <p:spPr>
          <a:xfrm>
            <a:off x="558292" y="45686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56F1835D-F703-476E-ADB2-501D5068FDE6}"/>
              </a:ext>
            </a:extLst>
          </p:cNvPr>
          <p:cNvSpPr/>
          <p:nvPr/>
        </p:nvSpPr>
        <p:spPr>
          <a:xfrm>
            <a:off x="1125220" y="4541220"/>
            <a:ext cx="73583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SR method depends on the application objective and risk.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894601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00f9067ec7_4_113"/>
          <p:cNvSpPr txBox="1">
            <a:spLocks noGrp="1"/>
          </p:cNvSpPr>
          <p:nvPr>
            <p:ph type="title"/>
          </p:nvPr>
        </p:nvSpPr>
        <p:spPr>
          <a:xfrm>
            <a:off x="266400" y="187200"/>
            <a:ext cx="86112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Choosing a Model Family: Fidelity – Realism - Efficiency</a:t>
            </a:r>
            <a:endParaRPr/>
          </a:p>
        </p:txBody>
      </p:sp>
      <p:sp>
        <p:nvSpPr>
          <p:cNvPr id="1033" name="Google Shape;1033;g300f9067ec7_4_1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1037" name="Google Shape;1037;g300f9067ec7_4_113"/>
          <p:cNvSpPr txBox="1">
            <a:spLocks noGrp="1"/>
          </p:cNvSpPr>
          <p:nvPr>
            <p:ph type="ftr" idx="4294967295"/>
          </p:nvPr>
        </p:nvSpPr>
        <p:spPr>
          <a:xfrm>
            <a:off x="3028950" y="6356350"/>
            <a:ext cx="369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41FD2D4-0006-43E4-AF76-CE7A1BA46183}"/>
              </a:ext>
            </a:extLst>
          </p:cNvPr>
          <p:cNvSpPr/>
          <p:nvPr/>
        </p:nvSpPr>
        <p:spPr>
          <a:xfrm>
            <a:off x="850392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F035D5F4-BF87-48F0-8789-9357516D7321}"/>
              </a:ext>
            </a:extLst>
          </p:cNvPr>
          <p:cNvSpPr/>
          <p:nvPr/>
        </p:nvSpPr>
        <p:spPr>
          <a:xfrm>
            <a:off x="548640" y="1143000"/>
            <a:ext cx="1554480" cy="603504"/>
          </a:xfrm>
          <a:prstGeom prst="rect">
            <a:avLst/>
          </a:prstGeom>
          <a:solidFill>
            <a:srgbClr val="D9EEF9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67F98653-78D5-4A5E-BBA7-5831FF38F23D}"/>
              </a:ext>
            </a:extLst>
          </p:cNvPr>
          <p:cNvSpPr/>
          <p:nvPr/>
        </p:nvSpPr>
        <p:spPr>
          <a:xfrm>
            <a:off x="1082040" y="1216152"/>
            <a:ext cx="940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600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5E08C27A-5563-4A9D-A634-2DA05B7276AA}"/>
              </a:ext>
            </a:extLst>
          </p:cNvPr>
          <p:cNvSpPr/>
          <p:nvPr/>
        </p:nvSpPr>
        <p:spPr>
          <a:xfrm>
            <a:off x="2103120" y="1143000"/>
            <a:ext cx="4023360" cy="603504"/>
          </a:xfrm>
          <a:prstGeom prst="rect">
            <a:avLst/>
          </a:prstGeom>
          <a:solidFill>
            <a:srgbClr val="D9EEF9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77ADCC0B-C060-4BC5-A28C-4F1A303AC8E4}"/>
              </a:ext>
            </a:extLst>
          </p:cNvPr>
          <p:cNvSpPr/>
          <p:nvPr/>
        </p:nvSpPr>
        <p:spPr>
          <a:xfrm>
            <a:off x="3784600" y="1216152"/>
            <a:ext cx="228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600" dirty="0"/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CD7811FC-F9E7-4C52-8AC7-F43EF647A6EB}"/>
              </a:ext>
            </a:extLst>
          </p:cNvPr>
          <p:cNvSpPr/>
          <p:nvPr/>
        </p:nvSpPr>
        <p:spPr>
          <a:xfrm>
            <a:off x="6126480" y="1143000"/>
            <a:ext cx="2468880" cy="603504"/>
          </a:xfrm>
          <a:prstGeom prst="rect">
            <a:avLst/>
          </a:prstGeom>
          <a:solidFill>
            <a:srgbClr val="D9EEF9"/>
          </a:solidFill>
          <a:ln w="762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D3B6C92E-7AB9-424A-B8D2-9C06CD085EF8}"/>
              </a:ext>
            </a:extLst>
          </p:cNvPr>
          <p:cNvSpPr/>
          <p:nvPr/>
        </p:nvSpPr>
        <p:spPr>
          <a:xfrm>
            <a:off x="7068312" y="1216152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risk</a:t>
            </a:r>
            <a:endParaRPr lang="en-US" sz="1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1116479E-8D87-4339-B8B8-AF33EE9984B7}"/>
              </a:ext>
            </a:extLst>
          </p:cNvPr>
          <p:cNvSpPr/>
          <p:nvPr/>
        </p:nvSpPr>
        <p:spPr>
          <a:xfrm>
            <a:off x="548640" y="1746504"/>
            <a:ext cx="15544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1C056A56-A5E9-4A45-A776-112895A30530}"/>
              </a:ext>
            </a:extLst>
          </p:cNvPr>
          <p:cNvSpPr/>
          <p:nvPr/>
        </p:nvSpPr>
        <p:spPr>
          <a:xfrm>
            <a:off x="603504" y="181965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</a:t>
            </a:r>
            <a:r>
              <a:rPr lang="en-US" sz="12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Transformer / Mamba</a:t>
            </a:r>
            <a:endParaRPr lang="en-US" sz="1200" dirty="0"/>
          </a:p>
        </p:txBody>
      </p:sp>
      <p:sp>
        <p:nvSpPr>
          <p:cNvPr id="65" name="Shape 11">
            <a:extLst>
              <a:ext uri="{FF2B5EF4-FFF2-40B4-BE49-F238E27FC236}">
                <a16:creationId xmlns:a16="http://schemas.microsoft.com/office/drawing/2014/main" id="{03C20405-28DD-4C20-9BF3-9113D677D30F}"/>
              </a:ext>
            </a:extLst>
          </p:cNvPr>
          <p:cNvSpPr/>
          <p:nvPr/>
        </p:nvSpPr>
        <p:spPr>
          <a:xfrm>
            <a:off x="2103120" y="1746504"/>
            <a:ext cx="402336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C30F2E97-0046-460D-A97A-E5E9B89A8CA0}"/>
              </a:ext>
            </a:extLst>
          </p:cNvPr>
          <p:cNvSpPr/>
          <p:nvPr/>
        </p:nvSpPr>
        <p:spPr>
          <a:xfrm>
            <a:off x="2157984" y="181965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 benchmarks; safety-critical restoration</a:t>
            </a:r>
            <a:endParaRPr lang="en-US" sz="1200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B7A8C824-0F4E-45F4-B66E-6236E0B57888}"/>
              </a:ext>
            </a:extLst>
          </p:cNvPr>
          <p:cNvSpPr/>
          <p:nvPr/>
        </p:nvSpPr>
        <p:spPr>
          <a:xfrm>
            <a:off x="6126480" y="1746504"/>
            <a:ext cx="24688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1916346E-1FEF-4CAF-8E3B-AC78ABF2782D}"/>
              </a:ext>
            </a:extLst>
          </p:cNvPr>
          <p:cNvSpPr/>
          <p:nvPr/>
        </p:nvSpPr>
        <p:spPr>
          <a:xfrm>
            <a:off x="6181344" y="1819656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texture; weak real-world robustness</a:t>
            </a:r>
            <a:endParaRPr lang="en-US" sz="1200" dirty="0"/>
          </a:p>
        </p:txBody>
      </p:sp>
      <p:sp>
        <p:nvSpPr>
          <p:cNvPr id="69" name="Shape 15">
            <a:extLst>
              <a:ext uri="{FF2B5EF4-FFF2-40B4-BE49-F238E27FC236}">
                <a16:creationId xmlns:a16="http://schemas.microsoft.com/office/drawing/2014/main" id="{CE963CE1-59F1-49EE-892C-B669691FCEBB}"/>
              </a:ext>
            </a:extLst>
          </p:cNvPr>
          <p:cNvSpPr/>
          <p:nvPr/>
        </p:nvSpPr>
        <p:spPr>
          <a:xfrm>
            <a:off x="548640" y="2350008"/>
            <a:ext cx="15544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026C224A-32F0-468F-BBD1-9150905F1918}"/>
              </a:ext>
            </a:extLst>
          </p:cNvPr>
          <p:cNvSpPr/>
          <p:nvPr/>
        </p:nvSpPr>
        <p:spPr>
          <a:xfrm>
            <a:off x="603504" y="2423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endParaRPr lang="en-US" sz="1200" dirty="0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273D6C6D-670A-457F-AF8D-B45E1D80DF59}"/>
              </a:ext>
            </a:extLst>
          </p:cNvPr>
          <p:cNvSpPr/>
          <p:nvPr/>
        </p:nvSpPr>
        <p:spPr>
          <a:xfrm>
            <a:off x="2103120" y="2350008"/>
            <a:ext cx="402336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72" name="Text 18">
            <a:extLst>
              <a:ext uri="{FF2B5EF4-FFF2-40B4-BE49-F238E27FC236}">
                <a16:creationId xmlns:a16="http://schemas.microsoft.com/office/drawing/2014/main" id="{5E91F7B2-F1A5-451E-9EAD-C26C91500B0B}"/>
              </a:ext>
            </a:extLst>
          </p:cNvPr>
          <p:cNvSpPr/>
          <p:nvPr/>
        </p:nvSpPr>
        <p:spPr>
          <a:xfrm>
            <a:off x="2157984" y="24231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perceptual enhancement; media restoration</a:t>
            </a:r>
            <a:endParaRPr lang="en-US" sz="1200" dirty="0"/>
          </a:p>
        </p:txBody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5C484999-7B4B-402B-9DCE-E08EB07039AD}"/>
              </a:ext>
            </a:extLst>
          </p:cNvPr>
          <p:cNvSpPr/>
          <p:nvPr/>
        </p:nvSpPr>
        <p:spPr>
          <a:xfrm>
            <a:off x="6126480" y="2350008"/>
            <a:ext cx="24688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74" name="Text 20">
            <a:extLst>
              <a:ext uri="{FF2B5EF4-FFF2-40B4-BE49-F238E27FC236}">
                <a16:creationId xmlns:a16="http://schemas.microsoft.com/office/drawing/2014/main" id="{29F09696-87A2-4800-8D8E-F7584D8D477D}"/>
              </a:ext>
            </a:extLst>
          </p:cNvPr>
          <p:cNvSpPr/>
          <p:nvPr/>
        </p:nvSpPr>
        <p:spPr>
          <a:xfrm>
            <a:off x="6181344" y="242316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and over-sharpened hallucination</a:t>
            </a:r>
            <a:endParaRPr lang="en-US" sz="1200" dirty="0"/>
          </a:p>
        </p:txBody>
      </p:sp>
      <p:sp>
        <p:nvSpPr>
          <p:cNvPr id="75" name="Shape 21">
            <a:extLst>
              <a:ext uri="{FF2B5EF4-FFF2-40B4-BE49-F238E27FC236}">
                <a16:creationId xmlns:a16="http://schemas.microsoft.com/office/drawing/2014/main" id="{BBE70902-53EF-444B-A432-12A425A94C2D}"/>
              </a:ext>
            </a:extLst>
          </p:cNvPr>
          <p:cNvSpPr/>
          <p:nvPr/>
        </p:nvSpPr>
        <p:spPr>
          <a:xfrm>
            <a:off x="548640" y="2953512"/>
            <a:ext cx="15544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F5DC258C-9EA6-47BB-B1ED-E77B9C029D8B}"/>
              </a:ext>
            </a:extLst>
          </p:cNvPr>
          <p:cNvSpPr/>
          <p:nvPr/>
        </p:nvSpPr>
        <p:spPr>
          <a:xfrm>
            <a:off x="603504" y="3026664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</a:t>
            </a:r>
            <a:endParaRPr lang="en-US" sz="1200" dirty="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8E529EF0-D9D7-448D-97B7-CE03784B5ED8}"/>
              </a:ext>
            </a:extLst>
          </p:cNvPr>
          <p:cNvSpPr/>
          <p:nvPr/>
        </p:nvSpPr>
        <p:spPr>
          <a:xfrm>
            <a:off x="2103120" y="2953512"/>
            <a:ext cx="402336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8B3125FA-2F0B-4AC9-B24E-78897D2E1DB0}"/>
              </a:ext>
            </a:extLst>
          </p:cNvPr>
          <p:cNvSpPr/>
          <p:nvPr/>
        </p:nvSpPr>
        <p:spPr>
          <a:xfrm>
            <a:off x="2157984" y="302666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perceptual realism; blind real-world SR</a:t>
            </a:r>
            <a:endParaRPr lang="en-US" sz="1200" dirty="0"/>
          </a:p>
        </p:txBody>
      </p:sp>
      <p:sp>
        <p:nvSpPr>
          <p:cNvPr id="79" name="Shape 25">
            <a:extLst>
              <a:ext uri="{FF2B5EF4-FFF2-40B4-BE49-F238E27FC236}">
                <a16:creationId xmlns:a16="http://schemas.microsoft.com/office/drawing/2014/main" id="{364BCD27-3738-4981-9043-7C8BEA569811}"/>
              </a:ext>
            </a:extLst>
          </p:cNvPr>
          <p:cNvSpPr/>
          <p:nvPr/>
        </p:nvSpPr>
        <p:spPr>
          <a:xfrm>
            <a:off x="6126480" y="2953512"/>
            <a:ext cx="24688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C6712F2E-6AEB-410A-98D8-1D02526FB13E}"/>
              </a:ext>
            </a:extLst>
          </p:cNvPr>
          <p:cNvSpPr/>
          <p:nvPr/>
        </p:nvSpPr>
        <p:spPr>
          <a:xfrm>
            <a:off x="6181344" y="302666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inference; semantic hallucination</a:t>
            </a:r>
            <a:endParaRPr lang="en-US" sz="1200" dirty="0"/>
          </a:p>
        </p:txBody>
      </p:sp>
      <p:sp>
        <p:nvSpPr>
          <p:cNvPr id="81" name="Shape 27">
            <a:extLst>
              <a:ext uri="{FF2B5EF4-FFF2-40B4-BE49-F238E27FC236}">
                <a16:creationId xmlns:a16="http://schemas.microsoft.com/office/drawing/2014/main" id="{2FFF88EF-44C7-481A-9293-C15B68B1CE84}"/>
              </a:ext>
            </a:extLst>
          </p:cNvPr>
          <p:cNvSpPr/>
          <p:nvPr/>
        </p:nvSpPr>
        <p:spPr>
          <a:xfrm>
            <a:off x="548640" y="3557016"/>
            <a:ext cx="15544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DE58D07A-BBE6-4579-B818-0B159740171A}"/>
              </a:ext>
            </a:extLst>
          </p:cNvPr>
          <p:cNvSpPr/>
          <p:nvPr/>
        </p:nvSpPr>
        <p:spPr>
          <a:xfrm>
            <a:off x="603504" y="363016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One-step diffusion</a:t>
            </a:r>
            <a:endParaRPr lang="en-US" sz="1200" dirty="0"/>
          </a:p>
        </p:txBody>
      </p:sp>
      <p:sp>
        <p:nvSpPr>
          <p:cNvPr id="83" name="Shape 29">
            <a:extLst>
              <a:ext uri="{FF2B5EF4-FFF2-40B4-BE49-F238E27FC236}">
                <a16:creationId xmlns:a16="http://schemas.microsoft.com/office/drawing/2014/main" id="{9AA90D1F-BA16-43B4-825B-8AC3170BC206}"/>
              </a:ext>
            </a:extLst>
          </p:cNvPr>
          <p:cNvSpPr/>
          <p:nvPr/>
        </p:nvSpPr>
        <p:spPr>
          <a:xfrm>
            <a:off x="2103120" y="3557016"/>
            <a:ext cx="402336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84" name="Text 30">
            <a:extLst>
              <a:ext uri="{FF2B5EF4-FFF2-40B4-BE49-F238E27FC236}">
                <a16:creationId xmlns:a16="http://schemas.microsoft.com/office/drawing/2014/main" id="{671B6A42-2BA4-429D-BB3D-219F0F5F0288}"/>
              </a:ext>
            </a:extLst>
          </p:cNvPr>
          <p:cNvSpPr/>
          <p:nvPr/>
        </p:nvSpPr>
        <p:spPr>
          <a:xfrm>
            <a:off x="2157984" y="36301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generative restoration</a:t>
            </a:r>
            <a:endParaRPr lang="en-US" sz="1200" dirty="0"/>
          </a:p>
        </p:txBody>
      </p:sp>
      <p:sp>
        <p:nvSpPr>
          <p:cNvPr id="85" name="Shape 31">
            <a:extLst>
              <a:ext uri="{FF2B5EF4-FFF2-40B4-BE49-F238E27FC236}">
                <a16:creationId xmlns:a16="http://schemas.microsoft.com/office/drawing/2014/main" id="{CBC137C5-336D-46B3-A8B6-D3F03247CEAC}"/>
              </a:ext>
            </a:extLst>
          </p:cNvPr>
          <p:cNvSpPr/>
          <p:nvPr/>
        </p:nvSpPr>
        <p:spPr>
          <a:xfrm>
            <a:off x="6126480" y="3557016"/>
            <a:ext cx="246888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B0BEC5"/>
            </a:solidFill>
            <a:prstDash val="solid"/>
          </a:ln>
        </p:spPr>
      </p:sp>
      <p:sp>
        <p:nvSpPr>
          <p:cNvPr id="86" name="Text 32">
            <a:extLst>
              <a:ext uri="{FF2B5EF4-FFF2-40B4-BE49-F238E27FC236}">
                <a16:creationId xmlns:a16="http://schemas.microsoft.com/office/drawing/2014/main" id="{8050F67B-9CBD-4649-BF4F-45A62BC799E0}"/>
              </a:ext>
            </a:extLst>
          </p:cNvPr>
          <p:cNvSpPr/>
          <p:nvPr/>
        </p:nvSpPr>
        <p:spPr>
          <a:xfrm>
            <a:off x="6181344" y="3630168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distillation quality gap</a:t>
            </a:r>
            <a:endParaRPr lang="en-US" sz="1200" dirty="0"/>
          </a:p>
        </p:txBody>
      </p:sp>
      <p:sp>
        <p:nvSpPr>
          <p:cNvPr id="87" name="Text 33">
            <a:extLst>
              <a:ext uri="{FF2B5EF4-FFF2-40B4-BE49-F238E27FC236}">
                <a16:creationId xmlns:a16="http://schemas.microsoft.com/office/drawing/2014/main" id="{8A8D24D6-EED7-41EF-8083-AE53AB7DBEA0}"/>
              </a:ext>
            </a:extLst>
          </p:cNvPr>
          <p:cNvSpPr/>
          <p:nvPr/>
        </p:nvSpPr>
        <p:spPr>
          <a:xfrm>
            <a:off x="822960" y="5074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4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family is universally best. The right choice depends on the application risk.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430948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5"/>
          <p:cNvSpPr txBox="1">
            <a:spLocks noGrp="1"/>
          </p:cNvSpPr>
          <p:nvPr>
            <p:ph type="title"/>
          </p:nvPr>
        </p:nvSpPr>
        <p:spPr>
          <a:xfrm>
            <a:off x="623888" y="1709740"/>
            <a:ext cx="78867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191"/>
              </a:buClr>
              <a:buSzPts val="32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054" name="Google Shape;1054;p5"/>
          <p:cNvSpPr txBox="1">
            <a:spLocks noGrp="1"/>
          </p:cNvSpPr>
          <p:nvPr>
            <p:ph type="body" idx="1"/>
          </p:nvPr>
        </p:nvSpPr>
        <p:spPr>
          <a:xfrm>
            <a:off x="623888" y="3393343"/>
            <a:ext cx="7886700" cy="19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19999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8DBD"/>
              </a:buClr>
              <a:buSzPts val="1800"/>
              <a:buFont typeface="Noto Sans Symbols"/>
              <a:buChar char="▪"/>
            </a:pPr>
            <a:r>
              <a:rPr lang="en-US"/>
              <a:t>Q&amp;A</a:t>
            </a:r>
            <a:endParaRPr/>
          </a:p>
          <a:p>
            <a:pPr marL="719999" lvl="0" indent="-285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68DBD"/>
              </a:buClr>
              <a:buSzPts val="1800"/>
              <a:buFont typeface="Noto Sans Symbols"/>
              <a:buChar char="▪"/>
            </a:pPr>
            <a:r>
              <a:rPr lang="en-US"/>
              <a:t>Comments</a:t>
            </a:r>
            <a:endParaRPr/>
          </a:p>
        </p:txBody>
      </p:sp>
      <p:sp>
        <p:nvSpPr>
          <p:cNvPr id="1055" name="Google Shape;1055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419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sp>
        <p:nvSpPr>
          <p:cNvPr id="1056" name="Google Shape;1056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22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CS632_2026_Fall Embedded Operating Systems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Eng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3032</TotalTime>
  <Words>2511</Words>
  <Application>Microsoft Office PowerPoint</Application>
  <PresentationFormat>On-screen Show (4:3)</PresentationFormat>
  <Paragraphs>470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맑은 고딕</vt:lpstr>
      <vt:lpstr>Calibri</vt:lpstr>
      <vt:lpstr>Noto Sans Symbols</vt:lpstr>
      <vt:lpstr>Courier New</vt:lpstr>
      <vt:lpstr>맑은 고딕</vt:lpstr>
      <vt:lpstr>WebEng Theme</vt:lpstr>
      <vt:lpstr>Super-Resolution in Deep Learning Era</vt:lpstr>
      <vt:lpstr>Self-intro</vt:lpstr>
      <vt:lpstr>Contents</vt:lpstr>
      <vt:lpstr>Super-Resolution Fundamentals</vt:lpstr>
      <vt:lpstr>What is Super-Resolution (SR)?</vt:lpstr>
      <vt:lpstr>Super-Resolution Category</vt:lpstr>
      <vt:lpstr>Traditional Technique</vt:lpstr>
      <vt:lpstr>Evaluation Metric – Distortion Metric</vt:lpstr>
      <vt:lpstr>Evaluation Metric – Perceptual Metric</vt:lpstr>
      <vt:lpstr>Applications of Super-Resolution</vt:lpstr>
      <vt:lpstr>Applications: Why SR Matters</vt:lpstr>
      <vt:lpstr>Applications: Why SR Matters</vt:lpstr>
      <vt:lpstr>Applications: Why SR Matters</vt:lpstr>
      <vt:lpstr>Non-generative Image Super-Resolution</vt:lpstr>
      <vt:lpstr>Non-Generative Image SR: Architecture Evolution</vt:lpstr>
      <vt:lpstr>SRCNN: The Starting Point of Deep SR</vt:lpstr>
      <vt:lpstr>SRCNN: The Starting Point of Deep SR</vt:lpstr>
      <vt:lpstr>Current Architecture Issues</vt:lpstr>
      <vt:lpstr>RCAN: Very Deep Network + Residual Learning</vt:lpstr>
      <vt:lpstr>RCAN: Very Deep Network + Residual Learning</vt:lpstr>
      <vt:lpstr>RCAN: Very Deep Network + Residual Learning</vt:lpstr>
      <vt:lpstr>Transformer Architecture</vt:lpstr>
      <vt:lpstr>Transformer Architecture</vt:lpstr>
      <vt:lpstr>Transformer Architecture</vt:lpstr>
      <vt:lpstr>SwinIR: First Transformer-based Method for SR</vt:lpstr>
      <vt:lpstr>SwinIR: First Transformer-based Method for SR</vt:lpstr>
      <vt:lpstr>SwinIR: First Transformer-based Method for SR</vt:lpstr>
      <vt:lpstr>SwinIR: First Transformer-based Method for SR</vt:lpstr>
      <vt:lpstr>CPAT: Channel-Partitioned Attention Transformer</vt:lpstr>
      <vt:lpstr>CPAT: Channel-Partitioned Attention Transformer</vt:lpstr>
      <vt:lpstr>CPAT: Channel-Partitioned Attention Transformer</vt:lpstr>
      <vt:lpstr>CPAT: Channel-Partitioned Attention Transformer</vt:lpstr>
      <vt:lpstr>CPAT: Channel-Partitioned Attention Transformer</vt:lpstr>
      <vt:lpstr>SAT: Selective Aggregation Transformer</vt:lpstr>
      <vt:lpstr>SAT: Selective Aggregation Transformer</vt:lpstr>
      <vt:lpstr>Key Takeaways from Non-generative Approach</vt:lpstr>
      <vt:lpstr>Generative Model for Super-Resolution</vt:lpstr>
      <vt:lpstr>Overview</vt:lpstr>
      <vt:lpstr>Why Do We Need Generative SR?</vt:lpstr>
      <vt:lpstr>GAN-based Super-Resolution: SRGAN → ESRGAN</vt:lpstr>
      <vt:lpstr>Diffusion-based Super-Resolution</vt:lpstr>
      <vt:lpstr>Utilizing Large Diffusion Priors for Real-World SR</vt:lpstr>
      <vt:lpstr>FreqOrtho-SR: Frequency-Guided Expert Learning SR</vt:lpstr>
      <vt:lpstr>FreqOrtho-SR: Frequency-Guided Expert Learning SR</vt:lpstr>
      <vt:lpstr>FreqOrtho-SR: Frequency-Guided Expert Learning SR</vt:lpstr>
      <vt:lpstr>FreqOrtho-SR: Frequency-Guided Expert Learning SR</vt:lpstr>
      <vt:lpstr>Deep Learning for Video Super-Resolution</vt:lpstr>
      <vt:lpstr>Deep Learning for VSR</vt:lpstr>
      <vt:lpstr>Current Limitations in Architecture Designs</vt:lpstr>
      <vt:lpstr>Preliminary</vt:lpstr>
      <vt:lpstr>VSRM: Video Super-Resolution with Mamba Architecture</vt:lpstr>
      <vt:lpstr>VSRM: Video Super-Resolution with Mamba Architecture</vt:lpstr>
      <vt:lpstr>VSRM: Video Super-Resolution with Mamba Architecture</vt:lpstr>
      <vt:lpstr>VSRM: Video Super-Resolution with Mamba Architecture</vt:lpstr>
      <vt:lpstr>VSRM: Video Super-Resolution with Mamba Architecture</vt:lpstr>
      <vt:lpstr>Open Issues &amp; Pratical Takeaways</vt:lpstr>
      <vt:lpstr>Open Issues 1: Metrics and Human Preference</vt:lpstr>
      <vt:lpstr>Open Issues 1: Real-World Degradations</vt:lpstr>
      <vt:lpstr>Open Issues 3: Efficiency &amp; Scalability</vt:lpstr>
      <vt:lpstr>Key Takeaways</vt:lpstr>
      <vt:lpstr>Choosing a Model Family: Fidelity – Realism - Efficiency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- Machine Vision</dc:title>
  <dc:creator>Windows User</dc:creator>
  <cp:lastModifiedBy>PhuTD</cp:lastModifiedBy>
  <cp:revision>185</cp:revision>
  <dcterms:created xsi:type="dcterms:W3CDTF">2015-04-08T04:16:55Z</dcterms:created>
  <dcterms:modified xsi:type="dcterms:W3CDTF">2026-09-09T13:05:51Z</dcterms:modified>
  <cp:version>1000.0000.01</cp:version>
</cp:coreProperties>
</file>